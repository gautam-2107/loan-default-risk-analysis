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1" r:id="rId5"/>
    <p:sldId id="262" r:id="rId6"/>
    <p:sldId id="268" r:id="rId7"/>
    <p:sldId id="264" r:id="rId8"/>
    <p:sldId id="265" r:id="rId9"/>
    <p:sldId id="269" r:id="rId10"/>
    <p:sldId id="270" r:id="rId11"/>
    <p:sldId id="274" r:id="rId12"/>
    <p:sldId id="271" r:id="rId13"/>
    <p:sldId id="272" r:id="rId14"/>
    <p:sldId id="273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67A184A-F94B-555B-A6AD-A9CC7F6DA97F}">
          <p14:sldIdLst>
            <p14:sldId id="256"/>
          </p14:sldIdLst>
        </p14:section>
        <p14:section name="Background" id="{EC2E7767-4CC4-C187-CF91-A990F5587484}">
          <p14:sldIdLst>
            <p14:sldId id="257"/>
          </p14:sldIdLst>
        </p14:section>
        <p14:section name="Data" id="{5CC6CDAE-F6B3-0FA9-37D4-8A6449C03A46}">
          <p14:sldIdLst>
            <p14:sldId id="259"/>
            <p14:sldId id="261"/>
          </p14:sldIdLst>
        </p14:section>
        <p14:section name="Analysis" id="{B6030B01-ED04-FC2C-9847-E951FB3EE119}">
          <p14:sldIdLst>
            <p14:sldId id="262"/>
            <p14:sldId id="268"/>
            <p14:sldId id="264"/>
          </p14:sldIdLst>
        </p14:section>
        <p14:section name="Method &amp; Progress" id="{AFDB2CAB-2DB7-8E2F-2788-D1EB654439E0}">
          <p14:sldIdLst>
            <p14:sldId id="265"/>
            <p14:sldId id="269"/>
            <p14:sldId id="270"/>
            <p14:sldId id="274"/>
            <p14:sldId id="271"/>
            <p14:sldId id="272"/>
            <p14:sldId id="273"/>
            <p14:sldId id="266"/>
          </p14:sldIdLst>
        </p14:section>
        <p14:section name="Close" id="{855CFDBE-9CD8-29AF-4C74-38BA583BC9C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C88B0"/>
              </a:solidFill>
              <a:ln w="12700" cap="flat">
                <a:solidFill>
                  <a:srgbClr val="1E202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50-4193-8E37-45121D6DACC6}"/>
              </c:ext>
            </c:extLst>
          </c:dPt>
          <c:dPt>
            <c:idx val="1"/>
            <c:bubble3D val="0"/>
            <c:spPr>
              <a:solidFill>
                <a:srgbClr val="D9A441"/>
              </a:solidFill>
              <a:ln w="12700" cap="flat">
                <a:solidFill>
                  <a:srgbClr val="1E202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50-4193-8E37-45121D6DACC6}"/>
              </c:ext>
            </c:extLst>
          </c:dPt>
          <c:dLbls>
            <c:dLbl>
              <c:idx val="0"/>
              <c:numFmt formatCode="0.0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4151A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50-4193-8E37-45121D6DACC6}"/>
                </c:ext>
              </c:extLst>
            </c:dLbl>
            <c:dLbl>
              <c:idx val="1"/>
              <c:numFmt formatCode="0.0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4151A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50-4193-8E37-45121D6DACC6}"/>
                </c:ext>
              </c:extLst>
            </c:dLbl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Non-Default</c:v>
                </c:pt>
                <c:pt idx="1">
                  <c:v>Default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78.13</c:v>
                </c:pt>
                <c:pt idx="1">
                  <c:v>21.87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50-4193-8E37-45121D6DA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EDE6D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IN" sz="1000" b="0">
                    <a:solidFill>
                      <a:srgbClr val="A29E93"/>
                    </a:solidFill>
                  </a:rPr>
                  <a:t>Loan purpose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DE6D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1"/>
        <c:axPos val="b"/>
        <c:title>
          <c:tx>
            <c:rich>
              <a:bodyPr/>
              <a:lstStyle/>
              <a:p>
                <a:r>
                  <a:rPr lang="en-IN" sz="1000" b="0">
                    <a:solidFill>
                      <a:srgbClr val="A29E93"/>
                    </a:solidFill>
                  </a:rPr>
                  <a:t>Default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1E2028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" y="256032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56032" y="173736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850624" y="256032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932920" y="173736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" y="6601968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56032" y="6519672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850624" y="6601968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932920" y="6519672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6350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Loan Default Risk Analysis and Prediction Using R  |  R Data Science Case Study  |  Review-2</a:t>
            </a:r>
            <a:endParaRPr lang="en-US" sz="1000" dirty="0"/>
          </a:p>
        </p:txBody>
      </p:sp>
      <p:sp>
        <p:nvSpPr>
          <p:cNvPr id="1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1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" y="256032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56032" y="173736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850624" y="256032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932920" y="173736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" y="6601968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56032" y="6519672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850624" y="6601968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932920" y="6519672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>
            <a:spLocks noGrp="1"/>
          </p:cNvSpPr>
          <p:nvPr>
            <p:ph type="title" idx="108" hasCustomPrompt="1"/>
          </p:nvPr>
        </p:nvSpPr>
        <p:spPr>
          <a:xfrm>
            <a:off x="822960" y="132588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4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" y="256032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56032" y="173736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850624" y="256032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932920" y="173736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" y="6601968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56032" y="6519672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850624" y="6601968"/>
            <a:ext cx="164592" cy="0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932920" y="6519672"/>
            <a:ext cx="0" cy="164592"/>
          </a:xfrm>
          <a:prstGeom prst="line">
            <a:avLst/>
          </a:prstGeom>
          <a:noFill/>
          <a:ln w="9525">
            <a:solidFill>
              <a:srgbClr val="3A3E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>
            <a:spLocks noGrp="1"/>
          </p:cNvSpPr>
          <p:nvPr>
            <p:ph type="title" idx="108" hasCustomPrompt="1"/>
          </p:nvPr>
        </p:nvSpPr>
        <p:spPr>
          <a:xfrm>
            <a:off x="822960" y="2011680"/>
            <a:ext cx="6858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h1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3" name="grid-h2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4" name="grid-h3"/>
          <p:cNvSpPr/>
          <p:nvPr/>
        </p:nvSpPr>
        <p:spPr>
          <a:xfrm>
            <a:off x="0" y="20574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5" name="grid-h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6" name="grid-h5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7" name="grid-h6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8" name="grid-h7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9" name="grid-h8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0" name="grid-h9"/>
          <p:cNvSpPr/>
          <p:nvPr/>
        </p:nvSpPr>
        <p:spPr>
          <a:xfrm>
            <a:off x="0" y="61722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1" name="grid-v1"/>
          <p:cNvSpPr/>
          <p:nvPr/>
        </p:nvSpPr>
        <p:spPr>
          <a:xfrm>
            <a:off x="939820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2" name="grid-v2"/>
          <p:cNvSpPr/>
          <p:nvPr/>
        </p:nvSpPr>
        <p:spPr>
          <a:xfrm>
            <a:off x="1879641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3" name="grid-v3"/>
          <p:cNvSpPr/>
          <p:nvPr/>
        </p:nvSpPr>
        <p:spPr>
          <a:xfrm>
            <a:off x="2819461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4" name="grid-v4"/>
          <p:cNvSpPr/>
          <p:nvPr/>
        </p:nvSpPr>
        <p:spPr>
          <a:xfrm>
            <a:off x="3759281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5" name="grid-v5"/>
          <p:cNvSpPr/>
          <p:nvPr/>
        </p:nvSpPr>
        <p:spPr>
          <a:xfrm>
            <a:off x="4671110" y="-27434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6" name="grid-v6"/>
          <p:cNvSpPr/>
          <p:nvPr/>
        </p:nvSpPr>
        <p:spPr>
          <a:xfrm>
            <a:off x="5638922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7" name="grid-v7"/>
          <p:cNvSpPr/>
          <p:nvPr/>
        </p:nvSpPr>
        <p:spPr>
          <a:xfrm>
            <a:off x="6578742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8" name="grid-v8"/>
          <p:cNvSpPr/>
          <p:nvPr/>
        </p:nvSpPr>
        <p:spPr>
          <a:xfrm>
            <a:off x="7518563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9" name="grid-v9"/>
          <p:cNvSpPr/>
          <p:nvPr/>
        </p:nvSpPr>
        <p:spPr>
          <a:xfrm>
            <a:off x="8458383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20" name="grid-v10"/>
          <p:cNvSpPr/>
          <p:nvPr/>
        </p:nvSpPr>
        <p:spPr>
          <a:xfrm>
            <a:off x="9398203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21" name="grid-v11"/>
          <p:cNvSpPr/>
          <p:nvPr/>
        </p:nvSpPr>
        <p:spPr>
          <a:xfrm>
            <a:off x="10338024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22" name="grid-v12"/>
          <p:cNvSpPr/>
          <p:nvPr/>
        </p:nvSpPr>
        <p:spPr>
          <a:xfrm>
            <a:off x="11277844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868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R DATA SCIENCE CASE STUDY  ·  REVIEW-2 PRESENTATION</a:t>
            </a:r>
            <a:endParaRPr lang="en-US" sz="1100" dirty="0"/>
          </a:p>
        </p:txBody>
      </p:sp>
      <p:sp>
        <p:nvSpPr>
          <p:cNvPr id="24" name="Text 8"/>
          <p:cNvSpPr>
            <a:spLocks noGrp="1"/>
          </p:cNvSpPr>
          <p:nvPr>
            <p:ph type="title" idx="108" hasCustomPrompt="1"/>
          </p:nvPr>
        </p:nvSpPr>
        <p:spPr>
          <a:xfrm>
            <a:off x="822960" y="1325879"/>
            <a:ext cx="8093904" cy="207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Loan Default Risk Analysis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and Prediction Using R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chemeClr val="bg2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Gautam Raju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983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B.Tech Artificial Intelligence &amp; Data Science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85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Chaitanya Bharathi Institute of Technology (CBIT)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Review-2 Presentation  ·  15 October 2026  ·  Academic Year 2026–27</a:t>
            </a:r>
            <a:endParaRPr lang="en-US" sz="1400" dirty="0"/>
          </a:p>
        </p:txBody>
      </p:sp>
      <p:sp>
        <p:nvSpPr>
          <p:cNvPr id="30" name="motif-A"/>
          <p:cNvSpPr/>
          <p:nvPr/>
        </p:nvSpPr>
        <p:spPr>
          <a:xfrm>
            <a:off x="8229600" y="5368735"/>
            <a:ext cx="365760" cy="30054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38160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A</a:t>
            </a:r>
            <a:endParaRPr lang="en-US" sz="1100" dirty="0"/>
          </a:p>
        </p:txBody>
      </p:sp>
      <p:sp>
        <p:nvSpPr>
          <p:cNvPr id="32" name="motif-B"/>
          <p:cNvSpPr/>
          <p:nvPr/>
        </p:nvSpPr>
        <p:spPr>
          <a:xfrm>
            <a:off x="8741664" y="5177424"/>
            <a:ext cx="365760" cy="49185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50224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B</a:t>
            </a:r>
            <a:endParaRPr lang="en-US" sz="1100" dirty="0"/>
          </a:p>
        </p:txBody>
      </p:sp>
      <p:sp>
        <p:nvSpPr>
          <p:cNvPr id="34" name="motif-C"/>
          <p:cNvSpPr/>
          <p:nvPr/>
        </p:nvSpPr>
        <p:spPr>
          <a:xfrm>
            <a:off x="9253728" y="5041636"/>
            <a:ext cx="365760" cy="62764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62288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C</a:t>
            </a:r>
            <a:endParaRPr lang="en-US" sz="1100" dirty="0"/>
          </a:p>
        </p:txBody>
      </p:sp>
      <p:sp>
        <p:nvSpPr>
          <p:cNvPr id="36" name="motif-D"/>
          <p:cNvSpPr/>
          <p:nvPr/>
        </p:nvSpPr>
        <p:spPr>
          <a:xfrm>
            <a:off x="9765792" y="3888943"/>
            <a:ext cx="365760" cy="178033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74352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D</a:t>
            </a:r>
            <a:endParaRPr lang="en-US" sz="1100" dirty="0"/>
          </a:p>
        </p:txBody>
      </p:sp>
      <p:sp>
        <p:nvSpPr>
          <p:cNvPr id="38" name="motif-E"/>
          <p:cNvSpPr/>
          <p:nvPr/>
        </p:nvSpPr>
        <p:spPr>
          <a:xfrm>
            <a:off x="10277856" y="3722980"/>
            <a:ext cx="365760" cy="19463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186416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E</a:t>
            </a:r>
            <a:endParaRPr lang="en-US" sz="1100" dirty="0"/>
          </a:p>
        </p:txBody>
      </p:sp>
      <p:sp>
        <p:nvSpPr>
          <p:cNvPr id="40" name="motif-F"/>
          <p:cNvSpPr/>
          <p:nvPr/>
        </p:nvSpPr>
        <p:spPr>
          <a:xfrm>
            <a:off x="10789920" y="3541928"/>
            <a:ext cx="365760" cy="21273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698480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</a:t>
            </a:r>
            <a:endParaRPr lang="en-US" sz="1100" dirty="0"/>
          </a:p>
        </p:txBody>
      </p:sp>
      <p:sp>
        <p:nvSpPr>
          <p:cNvPr id="42" name="motif-G"/>
          <p:cNvSpPr/>
          <p:nvPr/>
        </p:nvSpPr>
        <p:spPr>
          <a:xfrm>
            <a:off x="11301984" y="2700040"/>
            <a:ext cx="365760" cy="2969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1210544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G</a:t>
            </a:r>
            <a:endParaRPr lang="en-US" sz="1100" dirty="0"/>
          </a:p>
        </p:txBody>
      </p:sp>
      <p:sp>
        <p:nvSpPr>
          <p:cNvPr id="44" name="motif-axis"/>
          <p:cNvSpPr/>
          <p:nvPr/>
        </p:nvSpPr>
        <p:spPr>
          <a:xfrm>
            <a:off x="8092440" y="5669280"/>
            <a:ext cx="3712464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027664" y="2380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98.4%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092440" y="6126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bg2"/>
                </a:solidFill>
              </a:rPr>
              <a:t>DEFAULT RATE BY LOAN GRADE, A–G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agenda-rule-1"/>
          <p:cNvSpPr/>
          <p:nvPr/>
        </p:nvSpPr>
        <p:spPr>
          <a:xfrm>
            <a:off x="548640" y="173736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Problem Statement &amp; Objectives</a:t>
            </a:r>
            <a:endParaRPr lang="en-US" sz="1900" dirty="0"/>
          </a:p>
        </p:txBody>
      </p:sp>
      <p:sp>
        <p:nvSpPr>
          <p:cNvPr id="6" name="agenda-rule-2"/>
          <p:cNvSpPr/>
          <p:nvPr/>
        </p:nvSpPr>
        <p:spPr>
          <a:xfrm>
            <a:off x="4357116" y="173736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57116" y="1920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545836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Dataset &amp; Preprocessing</a:t>
            </a:r>
            <a:endParaRPr lang="en-US" sz="1900" dirty="0"/>
          </a:p>
        </p:txBody>
      </p:sp>
      <p:sp>
        <p:nvSpPr>
          <p:cNvPr id="9" name="agenda-rule-3"/>
          <p:cNvSpPr/>
          <p:nvPr/>
        </p:nvSpPr>
        <p:spPr>
          <a:xfrm>
            <a:off x="8165592" y="173736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65592" y="1920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354312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Exploratory Data Analysis</a:t>
            </a:r>
            <a:endParaRPr lang="en-US" sz="1900" dirty="0"/>
          </a:p>
        </p:txBody>
      </p:sp>
      <p:sp>
        <p:nvSpPr>
          <p:cNvPr id="12" name="agenda-rule-4"/>
          <p:cNvSpPr/>
          <p:nvPr/>
        </p:nvSpPr>
        <p:spPr>
          <a:xfrm>
            <a:off x="548640" y="320040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832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Correlation &amp; Statistical Tests</a:t>
            </a:r>
            <a:endParaRPr lang="en-US" sz="1900" dirty="0"/>
          </a:p>
        </p:txBody>
      </p:sp>
      <p:sp>
        <p:nvSpPr>
          <p:cNvPr id="15" name="agenda-rule-5"/>
          <p:cNvSpPr/>
          <p:nvPr/>
        </p:nvSpPr>
        <p:spPr>
          <a:xfrm>
            <a:off x="4357116" y="320040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57116" y="33832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5545836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Modelling Methodology</a:t>
            </a:r>
            <a:endParaRPr lang="en-US" sz="1900" dirty="0"/>
          </a:p>
        </p:txBody>
      </p:sp>
      <p:sp>
        <p:nvSpPr>
          <p:cNvPr id="18" name="agenda-rule-6"/>
          <p:cNvSpPr/>
          <p:nvPr/>
        </p:nvSpPr>
        <p:spPr>
          <a:xfrm>
            <a:off x="8165592" y="320040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65592" y="33832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9354312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Model Evaluation</a:t>
            </a:r>
            <a:endParaRPr lang="en-US" sz="1900" dirty="0"/>
          </a:p>
        </p:txBody>
      </p:sp>
      <p:sp>
        <p:nvSpPr>
          <p:cNvPr id="21" name="agenda-rule-7"/>
          <p:cNvSpPr/>
          <p:nvPr/>
        </p:nvSpPr>
        <p:spPr>
          <a:xfrm>
            <a:off x="548640" y="466344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846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Model Comparison &amp; Feature Importance</a:t>
            </a:r>
            <a:endParaRPr lang="en-US" sz="1900" dirty="0"/>
          </a:p>
        </p:txBody>
      </p:sp>
      <p:sp>
        <p:nvSpPr>
          <p:cNvPr id="24" name="agenda-rule-8"/>
          <p:cNvSpPr/>
          <p:nvPr/>
        </p:nvSpPr>
        <p:spPr>
          <a:xfrm>
            <a:off x="4357116" y="466344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57116" y="4846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4800" dirty="0"/>
          </a:p>
        </p:txBody>
      </p:sp>
      <p:sp>
        <p:nvSpPr>
          <p:cNvPr id="26" name="Text 24"/>
          <p:cNvSpPr txBox="1"/>
          <p:nvPr/>
        </p:nvSpPr>
        <p:spPr>
          <a:xfrm>
            <a:off x="5545836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>
                <a:solidFill>
                  <a:schemeClr val="bg1"/>
                </a:solidFill>
              </a:rPr>
              <a:t>LIME Explainability</a:t>
            </a:r>
          </a:p>
        </p:txBody>
      </p:sp>
      <p:sp>
        <p:nvSpPr>
          <p:cNvPr id="27" name="agenda-rule-9"/>
          <p:cNvSpPr/>
          <p:nvPr/>
        </p:nvSpPr>
        <p:spPr>
          <a:xfrm>
            <a:off x="8165592" y="4663440"/>
            <a:ext cx="347472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65592" y="4846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4800" dirty="0"/>
          </a:p>
        </p:txBody>
      </p:sp>
      <p:sp>
        <p:nvSpPr>
          <p:cNvPr id="29" name="Text 27"/>
          <p:cNvSpPr txBox="1"/>
          <p:nvPr/>
        </p:nvSpPr>
        <p:spPr>
          <a:xfrm>
            <a:off x="9354311" y="4846320"/>
            <a:ext cx="251422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Conclusion , Limitations &amp; Future Work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Amber: completed and reported in this review   ·   Blue: future work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Review-2 focus: R implementation, statistical analysis, predictive modelling and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Problem Statement &amp; Objectives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Loan default creates financial risk for lenders; this project analyzes and predicts it using 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objective-card-01"/>
          <p:cNvSpPr/>
          <p:nvPr/>
        </p:nvSpPr>
        <p:spPr>
          <a:xfrm>
            <a:off x="548640" y="1645920"/>
            <a:ext cx="352044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ag-EDA COMPLETED"/>
          <p:cNvSpPr/>
          <p:nvPr/>
        </p:nvSpPr>
        <p:spPr>
          <a:xfrm>
            <a:off x="2423160" y="1965960"/>
            <a:ext cx="13716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316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COMPLETED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42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Analyze Borrower Factors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443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Study income, age, employment and credit history.</a:t>
            </a:r>
            <a:endParaRPr lang="en-US" sz="1400" dirty="0"/>
          </a:p>
        </p:txBody>
      </p:sp>
      <p:sp>
        <p:nvSpPr>
          <p:cNvPr id="11" name="objective-card-02"/>
          <p:cNvSpPr/>
          <p:nvPr/>
        </p:nvSpPr>
        <p:spPr>
          <a:xfrm>
            <a:off x="4334256" y="1645920"/>
            <a:ext cx="352044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8576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ag-EDA COMPLETED"/>
          <p:cNvSpPr/>
          <p:nvPr/>
        </p:nvSpPr>
        <p:spPr>
          <a:xfrm>
            <a:off x="6208776" y="1965960"/>
            <a:ext cx="13716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08776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COMPLETED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2542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Analyze Loan Factors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29443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Examine loan amount, interest rate and loan purpose.</a:t>
            </a:r>
            <a:endParaRPr lang="en-US" sz="1400" dirty="0"/>
          </a:p>
        </p:txBody>
      </p:sp>
      <p:sp>
        <p:nvSpPr>
          <p:cNvPr id="17" name="objective-card-03"/>
          <p:cNvSpPr/>
          <p:nvPr/>
        </p:nvSpPr>
        <p:spPr>
          <a:xfrm>
            <a:off x="8119872" y="1645920"/>
            <a:ext cx="352044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ag-EDA COMPLETED"/>
          <p:cNvSpPr/>
          <p:nvPr/>
        </p:nvSpPr>
        <p:spPr>
          <a:xfrm>
            <a:off x="9994392" y="1965960"/>
            <a:ext cx="13716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94392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COMPLETED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2542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Explore Default Patterns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29443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Identify patterns associated with loan default.</a:t>
            </a:r>
            <a:endParaRPr lang="en-US" sz="1400" dirty="0"/>
          </a:p>
        </p:txBody>
      </p:sp>
      <p:sp>
        <p:nvSpPr>
          <p:cNvPr id="23" name="objective-card-04"/>
          <p:cNvSpPr/>
          <p:nvPr/>
        </p:nvSpPr>
        <p:spPr>
          <a:xfrm>
            <a:off x="548640" y="3886200"/>
            <a:ext cx="352044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069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ag-PLANNED"/>
          <p:cNvSpPr/>
          <p:nvPr/>
        </p:nvSpPr>
        <p:spPr>
          <a:xfrm>
            <a:off x="2423160" y="4206240"/>
            <a:ext cx="13716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42316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COMPLETED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7823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Statistical Analysis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1846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Determine important factors related to default.</a:t>
            </a:r>
            <a:endParaRPr lang="en-US" sz="1400" dirty="0"/>
          </a:p>
        </p:txBody>
      </p:sp>
      <p:sp>
        <p:nvSpPr>
          <p:cNvPr id="29" name="objective-card-05"/>
          <p:cNvSpPr/>
          <p:nvPr/>
        </p:nvSpPr>
        <p:spPr>
          <a:xfrm>
            <a:off x="4334256" y="3886200"/>
            <a:ext cx="352044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08576" y="4069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3200" dirty="0"/>
          </a:p>
        </p:txBody>
      </p:sp>
      <p:sp>
        <p:nvSpPr>
          <p:cNvPr id="31" name="tag-PLANNED"/>
          <p:cNvSpPr/>
          <p:nvPr/>
        </p:nvSpPr>
        <p:spPr>
          <a:xfrm>
            <a:off x="6208776" y="4206240"/>
            <a:ext cx="13716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08776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COMPLETED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08576" y="47823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Build Prediction Models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4608576" y="51846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Use Logistic Regression and Random Forest.</a:t>
            </a:r>
            <a:endParaRPr lang="en-US" sz="1400" dirty="0"/>
          </a:p>
        </p:txBody>
      </p:sp>
      <p:sp>
        <p:nvSpPr>
          <p:cNvPr id="35" name="objective-card-06"/>
          <p:cNvSpPr/>
          <p:nvPr/>
        </p:nvSpPr>
        <p:spPr>
          <a:xfrm>
            <a:off x="8119872" y="3886200"/>
            <a:ext cx="352044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94192" y="4069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3200" dirty="0"/>
          </a:p>
        </p:txBody>
      </p:sp>
      <p:sp>
        <p:nvSpPr>
          <p:cNvPr id="37" name="tag-PLANNED"/>
          <p:cNvSpPr/>
          <p:nvPr/>
        </p:nvSpPr>
        <p:spPr>
          <a:xfrm>
            <a:off x="9994392" y="4206240"/>
            <a:ext cx="137160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994392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COMPLETED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394192" y="47823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Evaluate Predictions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518464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Compare models using suitable performance metrics.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Preparation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step-1"/>
          <p:cNvSpPr/>
          <p:nvPr/>
        </p:nvSpPr>
        <p:spPr>
          <a:xfrm>
            <a:off x="548640" y="1600200"/>
            <a:ext cx="1618488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28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3911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Original Dataset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24328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32,581 rows × 12 variables</a:t>
            </a:r>
            <a:endParaRPr lang="en-US" sz="1100" dirty="0"/>
          </a:p>
        </p:txBody>
      </p:sp>
      <p:sp>
        <p:nvSpPr>
          <p:cNvPr id="8" name="flow-arrow-1"/>
          <p:cNvSpPr/>
          <p:nvPr/>
        </p:nvSpPr>
        <p:spPr>
          <a:xfrm>
            <a:off x="2203704" y="2514600"/>
            <a:ext cx="20299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tep-2"/>
          <p:cNvSpPr/>
          <p:nvPr/>
        </p:nvSpPr>
        <p:spPr>
          <a:xfrm>
            <a:off x="2443277" y="1600200"/>
            <a:ext cx="1618488" cy="182880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80437" y="1728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80437" y="203911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Duplicate Removal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0437" y="2624328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165 exact duplicate rows removed</a:t>
            </a:r>
            <a:endParaRPr lang="en-US" sz="1100" dirty="0"/>
          </a:p>
        </p:txBody>
      </p:sp>
      <p:sp>
        <p:nvSpPr>
          <p:cNvPr id="13" name="flow-arrow-2"/>
          <p:cNvSpPr/>
          <p:nvPr/>
        </p:nvSpPr>
        <p:spPr>
          <a:xfrm>
            <a:off x="4098341" y="2514600"/>
            <a:ext cx="20299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tep-3"/>
          <p:cNvSpPr/>
          <p:nvPr/>
        </p:nvSpPr>
        <p:spPr>
          <a:xfrm>
            <a:off x="4337914" y="1600200"/>
            <a:ext cx="1618488" cy="182880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5074" y="1728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75074" y="203911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Unrealistic Value Handling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75074" y="2624328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ages above 100 and employment above 50 years removed</a:t>
            </a:r>
            <a:endParaRPr lang="en-US" sz="1100" dirty="0"/>
          </a:p>
        </p:txBody>
      </p:sp>
      <p:sp>
        <p:nvSpPr>
          <p:cNvPr id="18" name="flow-arrow-3"/>
          <p:cNvSpPr/>
          <p:nvPr/>
        </p:nvSpPr>
        <p:spPr>
          <a:xfrm>
            <a:off x="5992978" y="2514600"/>
            <a:ext cx="20299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tep-4"/>
          <p:cNvSpPr/>
          <p:nvPr/>
        </p:nvSpPr>
        <p:spPr>
          <a:xfrm>
            <a:off x="6232550" y="1600200"/>
            <a:ext cx="1618488" cy="182880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9710" y="1728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69710" y="203911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Categorical Conversion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69710" y="2624328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categorical variables converted to factors</a:t>
            </a:r>
            <a:endParaRPr lang="en-US" sz="1100" dirty="0"/>
          </a:p>
        </p:txBody>
      </p:sp>
      <p:sp>
        <p:nvSpPr>
          <p:cNvPr id="23" name="flow-arrow-4"/>
          <p:cNvSpPr/>
          <p:nvPr/>
        </p:nvSpPr>
        <p:spPr>
          <a:xfrm>
            <a:off x="7887614" y="2514600"/>
            <a:ext cx="20299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tep-5"/>
          <p:cNvSpPr/>
          <p:nvPr/>
        </p:nvSpPr>
        <p:spPr>
          <a:xfrm>
            <a:off x="8127187" y="1600200"/>
            <a:ext cx="1618488" cy="182880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4347" y="1728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64347" y="203911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Cleaned Dataset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64347" y="2624328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32,409 rows × 12 variables</a:t>
            </a:r>
            <a:endParaRPr lang="en-US" sz="1100" dirty="0"/>
          </a:p>
        </p:txBody>
      </p:sp>
      <p:sp>
        <p:nvSpPr>
          <p:cNvPr id="28" name="flow-arrow-5"/>
          <p:cNvSpPr/>
          <p:nvPr/>
        </p:nvSpPr>
        <p:spPr>
          <a:xfrm>
            <a:off x="9782251" y="2514600"/>
            <a:ext cx="202997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step-6"/>
          <p:cNvSpPr/>
          <p:nvPr/>
        </p:nvSpPr>
        <p:spPr>
          <a:xfrm>
            <a:off x="10021824" y="1600200"/>
            <a:ext cx="1618488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58984" y="17282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58984" y="2039112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Split &amp; Imputation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58984" y="2624328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80:20 stratified split; training-median imputation</a:t>
            </a:r>
            <a:endParaRPr lang="en-US" sz="1100" dirty="0"/>
          </a:p>
        </p:txBody>
      </p:sp>
      <p:sp>
        <p:nvSpPr>
          <p:cNvPr id="33" name="done-card"/>
          <p:cNvSpPr/>
          <p:nvPr/>
        </p:nvSpPr>
        <p:spPr>
          <a:xfrm>
            <a:off x="548640" y="3749040"/>
            <a:ext cx="53949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COMPLETED ✓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343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165</a:t>
            </a:r>
            <a:endParaRPr lang="en-US" sz="60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5257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duplicate rows removed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43434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32,409</a:t>
            </a:r>
            <a:endParaRPr lang="en-US" sz="60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rows remaining</a:t>
            </a:r>
            <a:endParaRPr lang="en-US" sz="1400" dirty="0"/>
          </a:p>
        </p:txBody>
      </p:sp>
      <p:sp>
        <p:nvSpPr>
          <p:cNvPr id="39" name="missing-card"/>
          <p:cNvSpPr/>
          <p:nvPr/>
        </p:nvSpPr>
        <p:spPr>
          <a:xfrm>
            <a:off x="6217920" y="3749040"/>
            <a:ext cx="5422392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3796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TRAIN / TEST SPLIT</a:t>
            </a:r>
            <a:endParaRPr lang="en-US" sz="1100" dirty="0"/>
          </a:p>
        </p:txBody>
      </p:sp>
      <p:sp>
        <p:nvSpPr>
          <p:cNvPr id="41" name="tag-NOT YET IMPUTED"/>
          <p:cNvSpPr/>
          <p:nvPr/>
        </p:nvSpPr>
        <p:spPr>
          <a:xfrm>
            <a:off x="9921240" y="3886200"/>
            <a:ext cx="1417320" cy="274320"/>
          </a:xfrm>
          <a:prstGeom prst="rect">
            <a:avLst/>
          </a:prstGeom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21240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80:20 SPLIT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556248" y="4526280"/>
            <a:ext cx="2194560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25,928</a:t>
            </a:r>
            <a:endParaRPr lang="en-US" sz="4800" dirty="0"/>
          </a:p>
        </p:txBody>
      </p:sp>
      <p:sp>
        <p:nvSpPr>
          <p:cNvPr id="44" name="Text 42"/>
          <p:cNvSpPr txBox="1"/>
          <p:nvPr/>
        </p:nvSpPr>
        <p:spPr>
          <a:xfrm>
            <a:off x="653796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Training records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052560" y="451713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6,481</a:t>
            </a:r>
            <a:endParaRPr lang="en-US" sz="6000" dirty="0"/>
          </a:p>
        </p:txBody>
      </p:sp>
      <p:sp>
        <p:nvSpPr>
          <p:cNvPr id="46" name="Text 44"/>
          <p:cNvSpPr txBox="1"/>
          <p:nvPr/>
        </p:nvSpPr>
        <p:spPr>
          <a:xfrm>
            <a:off x="9052560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Testing records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537960" y="5596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Missing values in person_emp_length and loan_int_rate were imputed with training-set medians; none remain in either set.</a:t>
            </a: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0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Kaggle Credit Risk Dataset  ·  target loan_status: 0 = non-default, 1 = default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EDA: Default Status &amp; Loan Grade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Observed patterns in the cleaned dataset (32,409 loans).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chart-card-1"/>
          <p:cNvSpPr/>
          <p:nvPr/>
        </p:nvSpPr>
        <p:spPr>
          <a:xfrm>
            <a:off x="548640" y="1554480"/>
            <a:ext cx="4023360" cy="32004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64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1. DISTRIBUTION OF LOAN DEFAULT STATUS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chart-card-2"/>
          <p:cNvSpPr/>
          <p:nvPr/>
        </p:nvSpPr>
        <p:spPr>
          <a:xfrm>
            <a:off x="4754880" y="1554480"/>
            <a:ext cx="6885432" cy="32004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6642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2. DEFAULT RATE (%) BY LOAN GRADE</a:t>
            </a:r>
            <a:endParaRPr lang="en-US" sz="1100" dirty="0">
              <a:solidFill>
                <a:schemeClr val="bg1"/>
              </a:solidFill>
            </a:endParaRPr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2759779605"/>
              </p:ext>
            </p:extLst>
          </p:nvPr>
        </p:nvGraphicFramePr>
        <p:xfrm>
          <a:off x="640080" y="1920240"/>
          <a:ext cx="3840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44" name="note-card"/>
          <p:cNvSpPr/>
          <p:nvPr/>
        </p:nvSpPr>
        <p:spPr>
          <a:xfrm>
            <a:off x="548640" y="4937760"/>
            <a:ext cx="4023360" cy="118872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45" name="note-text"/>
          <p:cNvSpPr txBox="1"/>
          <p:nvPr/>
        </p:nvSpPr>
        <p:spPr>
          <a:xfrm>
            <a:off x="777240" y="493776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Class balance: </a:t>
            </a:r>
            <a:r>
              <a:rPr lang="en-US" sz="1400" dirty="0">
                <a:solidFill>
                  <a:schemeClr val="bg1"/>
                </a:solidFill>
              </a:rPr>
              <a:t>7,088 default vs 25,321 non-default loans (21.87% default).</a:t>
            </a:r>
          </a:p>
        </p:txBody>
      </p:sp>
      <p:sp>
        <p:nvSpPr>
          <p:cNvPr id="46" name="note-card"/>
          <p:cNvSpPr/>
          <p:nvPr/>
        </p:nvSpPr>
        <p:spPr>
          <a:xfrm>
            <a:off x="4754880" y="4937760"/>
            <a:ext cx="6885432" cy="118872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47" name="note-text"/>
          <p:cNvSpPr txBox="1"/>
          <p:nvPr/>
        </p:nvSpPr>
        <p:spPr>
          <a:xfrm>
            <a:off x="4983480" y="4937760"/>
            <a:ext cx="6428232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Loan grade: </a:t>
            </a:r>
            <a:r>
              <a:rPr lang="en-US" sz="1400" dirty="0">
                <a:solidFill>
                  <a:schemeClr val="bg1"/>
                </a:solidFill>
              </a:rPr>
              <a:t>default rate rises from 9.96% (A) to 98.4% (G). Grade G has only 64 loans, so it is not representative of the wider data.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5B91A9-E383-6667-30F7-52226B4AB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54480"/>
            <a:ext cx="6885432" cy="3172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EDA: Loan Purpose &amp; Home Ownership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Default rate (%) by category in the cleaned dataset (32,409 loans).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6" name="chart-card-3"/>
          <p:cNvSpPr/>
          <p:nvPr/>
        </p:nvSpPr>
        <p:spPr>
          <a:xfrm>
            <a:off x="548640" y="1554480"/>
            <a:ext cx="5486400" cy="32004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8"/>
          <p:cNvSpPr txBox="1"/>
          <p:nvPr/>
        </p:nvSpPr>
        <p:spPr>
          <a:xfrm>
            <a:off x="731520" y="166420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1. DEFAULT RATE (%) BY LOAN PURPOSE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chart-card-4"/>
          <p:cNvSpPr/>
          <p:nvPr/>
        </p:nvSpPr>
        <p:spPr>
          <a:xfrm>
            <a:off x="6153912" y="1554480"/>
            <a:ext cx="5486400" cy="32004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10"/>
          <p:cNvSpPr txBox="1"/>
          <p:nvPr/>
        </p:nvSpPr>
        <p:spPr>
          <a:xfrm>
            <a:off x="6336792" y="166420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</a:rPr>
              <a:t>2. DEFAULT RATE (%) BY HOME OWNERSHIP</a:t>
            </a:r>
            <a:endParaRPr lang="en-US" sz="1100" dirty="0">
              <a:solidFill>
                <a:schemeClr val="bg1"/>
              </a:solidFill>
            </a:endParaRPr>
          </a:p>
        </p:txBody>
      </p:sp>
      <p:graphicFrame>
        <p:nvGraphicFramePr>
          <p:cNvPr id="10" name="Chart 2"/>
          <p:cNvGraphicFramePr/>
          <p:nvPr>
            <p:extLst>
              <p:ext uri="{D42A27DB-BD31-4B8C-83A1-F6EECF244321}">
                <p14:modId xmlns:p14="http://schemas.microsoft.com/office/powerpoint/2010/main" val="2667939427"/>
              </p:ext>
            </p:extLst>
          </p:nvPr>
        </p:nvGraphicFramePr>
        <p:xfrm>
          <a:off x="640080" y="192024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note-card"/>
          <p:cNvSpPr/>
          <p:nvPr/>
        </p:nvSpPr>
        <p:spPr>
          <a:xfrm>
            <a:off x="548640" y="4937760"/>
            <a:ext cx="5486400" cy="118872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13" name="note-text"/>
          <p:cNvSpPr txBox="1"/>
          <p:nvPr/>
        </p:nvSpPr>
        <p:spPr>
          <a:xfrm>
            <a:off x="777240" y="493776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Loan purpose: </a:t>
            </a:r>
            <a:r>
              <a:rPr lang="en-US" sz="1400" dirty="0">
                <a:solidFill>
                  <a:schemeClr val="bg1"/>
                </a:solidFill>
              </a:rPr>
              <a:t>highest observed rate is debt consolidation (28.7%) and lowest is venture (14.9%); medical (26.8%) and home improvement (26.2%) are also high.</a:t>
            </a:r>
          </a:p>
        </p:txBody>
      </p:sp>
      <p:sp>
        <p:nvSpPr>
          <p:cNvPr id="14" name="note-card"/>
          <p:cNvSpPr/>
          <p:nvPr/>
        </p:nvSpPr>
        <p:spPr>
          <a:xfrm>
            <a:off x="6153912" y="4937760"/>
            <a:ext cx="5486400" cy="118872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15" name="note-text"/>
          <p:cNvSpPr txBox="1"/>
          <p:nvPr/>
        </p:nvSpPr>
        <p:spPr>
          <a:xfrm>
            <a:off x="6382512" y="493776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Home ownership: </a:t>
            </a:r>
            <a:r>
              <a:rPr lang="en-US" sz="1400" dirty="0">
                <a:solidFill>
                  <a:schemeClr val="bg1"/>
                </a:solidFill>
              </a:rPr>
              <a:t>rent (31.6%) and other (31.1%) show higher default rates than mortgage (12.6%) and own (7.49%). “Other” has only 106 loans.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9D0028-227A-68EF-4101-DCB242AD7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554480"/>
            <a:ext cx="5486400" cy="3200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CE4473-D90D-EA5E-97E5-7359E6EBD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Correlation &amp; Statistical Tests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Pearson correlations among numerical variables; chi-square tests for categorical variables.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corr-chart-card"/>
          <p:cNvSpPr/>
          <p:nvPr/>
        </p:nvSpPr>
        <p:spPr>
          <a:xfrm>
            <a:off x="548640" y="1554480"/>
            <a:ext cx="6400800" cy="3840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8249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2"/>
                </a:solidFill>
              </a:rPr>
              <a:t>SELECTED CORRELATIONS AMONG NUMERICAL VARIABLES (PEARSON r)</a:t>
            </a:r>
            <a:endParaRPr lang="en-US" sz="1100" dirty="0"/>
          </a:p>
        </p:txBody>
      </p:sp>
      <p:sp>
        <p:nvSpPr>
          <p:cNvPr id="8" name="corr-callout-1"/>
          <p:cNvSpPr/>
          <p:nvPr/>
        </p:nvSpPr>
        <p:spPr>
          <a:xfrm>
            <a:off x="7178040" y="1554480"/>
            <a:ext cx="4462272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 = 0.878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Age ↔ Credit-history length</a:t>
            </a:r>
            <a:endParaRPr lang="en-US" sz="1300" dirty="0"/>
          </a:p>
        </p:txBody>
      </p:sp>
      <p:sp>
        <p:nvSpPr>
          <p:cNvPr id="11" name="corr-callout-2"/>
          <p:cNvSpPr/>
          <p:nvPr/>
        </p:nvSpPr>
        <p:spPr>
          <a:xfrm>
            <a:off x="7178040" y="2377440"/>
            <a:ext cx="4462272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06640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 = 0.573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Loan amount ↔ Loan-to-income</a:t>
            </a:r>
            <a:endParaRPr lang="en-US" sz="1300" dirty="0"/>
          </a:p>
        </p:txBody>
      </p:sp>
      <p:sp>
        <p:nvSpPr>
          <p:cNvPr id="14" name="corr-callout-3"/>
          <p:cNvSpPr/>
          <p:nvPr/>
        </p:nvSpPr>
        <p:spPr>
          <a:xfrm>
            <a:off x="7178040" y="3200400"/>
            <a:ext cx="4462272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 = −0.295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Income ↔ Loan-to-income</a:t>
            </a:r>
            <a:endParaRPr lang="en-US" sz="1300" dirty="0"/>
          </a:p>
        </p:txBody>
      </p:sp>
      <p:sp>
        <p:nvSpPr>
          <p:cNvPr id="17" name="variables-card"/>
          <p:cNvSpPr/>
          <p:nvPr/>
        </p:nvSpPr>
        <p:spPr>
          <a:xfrm>
            <a:off x="7178040" y="4023360"/>
            <a:ext cx="4462272" cy="1371600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60920" y="41330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bg2"/>
                </a:solidFill>
              </a:rPr>
              <a:t>CHI-SQUARE TESTS WITH LOAN STATUS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360920" y="4434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Loan grade, loan intent, home ownership and previous default history each showed a statistically significant association.</a:t>
            </a:r>
            <a:endParaRPr lang="en-US" sz="1200" dirty="0"/>
          </a:p>
        </p:txBody>
      </p:sp>
      <p:sp>
        <p:nvSpPr>
          <p:cNvPr id="20" name="note-card"/>
          <p:cNvSpPr/>
          <p:nvPr/>
        </p:nvSpPr>
        <p:spPr>
          <a:xfrm>
            <a:off x="548640" y="5559552"/>
            <a:ext cx="11091672" cy="612648"/>
          </a:xfrm>
          <a:prstGeom prst="rect">
            <a:avLst/>
          </a:prstGeom>
          <a:ln w="12700">
            <a:solidFill>
              <a:schemeClr val="accent2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77240" y="5559552"/>
            <a:ext cx="10698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Note: </a:t>
            </a:r>
            <a:r>
              <a:rPr lang="en-US" sz="1400" dirty="0">
                <a:solidFill>
                  <a:schemeClr val="bg1"/>
                </a:solidFill>
              </a:rPr>
              <a:t>correlations are among numerical variables, not with the target. Chi-square results show association, not causation; very small p-values shown as 0 are not literally zero.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66A9AD8-4549-90E0-6399-52AA45C1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6464808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Modelling Methodology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WORKFLOW IMPLEMENTED IN R  ·  both models evaluated on the same 20% test set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6600" dirty="0"/>
          </a:p>
        </p:txBody>
      </p:sp>
      <p:sp>
        <p:nvSpPr>
          <p:cNvPr id="5" name="method-step-1"/>
          <p:cNvSpPr/>
          <p:nvPr/>
        </p:nvSpPr>
        <p:spPr>
          <a:xfrm>
            <a:off x="548640" y="16916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Dataset</a:t>
            </a:r>
            <a:endParaRPr lang="en-US" sz="1400" dirty="0"/>
          </a:p>
        </p:txBody>
      </p:sp>
      <p:sp>
        <p:nvSpPr>
          <p:cNvPr id="8" name="method-arrow-1"/>
          <p:cNvSpPr/>
          <p:nvPr/>
        </p:nvSpPr>
        <p:spPr>
          <a:xfrm>
            <a:off x="2962656" y="22402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method-step-2"/>
          <p:cNvSpPr/>
          <p:nvPr/>
        </p:nvSpPr>
        <p:spPr>
          <a:xfrm>
            <a:off x="3246120" y="16916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8196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48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Cleaning &amp; Preprocessing</a:t>
            </a:r>
            <a:endParaRPr lang="en-US" sz="1400" dirty="0"/>
          </a:p>
        </p:txBody>
      </p:sp>
      <p:sp>
        <p:nvSpPr>
          <p:cNvPr id="12" name="method-arrow-2"/>
          <p:cNvSpPr/>
          <p:nvPr/>
        </p:nvSpPr>
        <p:spPr>
          <a:xfrm>
            <a:off x="5660136" y="22402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method-step-3"/>
          <p:cNvSpPr/>
          <p:nvPr/>
        </p:nvSpPr>
        <p:spPr>
          <a:xfrm>
            <a:off x="5943600" y="16916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8196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148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Exploratory Data Analysis</a:t>
            </a:r>
            <a:endParaRPr lang="en-US" sz="1400" dirty="0"/>
          </a:p>
        </p:txBody>
      </p:sp>
      <p:sp>
        <p:nvSpPr>
          <p:cNvPr id="16" name="method-step-4"/>
          <p:cNvSpPr/>
          <p:nvPr/>
        </p:nvSpPr>
        <p:spPr>
          <a:xfrm>
            <a:off x="548640" y="30632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91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20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Statistical Analysis</a:t>
            </a:r>
            <a:endParaRPr lang="en-US" sz="1400" dirty="0"/>
          </a:p>
        </p:txBody>
      </p:sp>
      <p:sp>
        <p:nvSpPr>
          <p:cNvPr id="19" name="method-arrow-4"/>
          <p:cNvSpPr/>
          <p:nvPr/>
        </p:nvSpPr>
        <p:spPr>
          <a:xfrm>
            <a:off x="2962656" y="36118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method-step-5"/>
          <p:cNvSpPr/>
          <p:nvPr/>
        </p:nvSpPr>
        <p:spPr>
          <a:xfrm>
            <a:off x="3246120" y="30632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191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520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80:20 Stratified Train / Test Split</a:t>
            </a:r>
            <a:endParaRPr lang="en-US" sz="1400" dirty="0"/>
          </a:p>
        </p:txBody>
      </p:sp>
      <p:sp>
        <p:nvSpPr>
          <p:cNvPr id="23" name="method-arrow-5"/>
          <p:cNvSpPr/>
          <p:nvPr/>
        </p:nvSpPr>
        <p:spPr>
          <a:xfrm>
            <a:off x="5660136" y="36118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method-step-6"/>
          <p:cNvSpPr/>
          <p:nvPr/>
        </p:nvSpPr>
        <p:spPr>
          <a:xfrm>
            <a:off x="5943600" y="30632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3191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520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Logistic Regression + Random Forest</a:t>
            </a:r>
            <a:endParaRPr lang="en-US" sz="1400" dirty="0"/>
          </a:p>
        </p:txBody>
      </p:sp>
      <p:sp>
        <p:nvSpPr>
          <p:cNvPr id="27" name="method-step-7"/>
          <p:cNvSpPr/>
          <p:nvPr/>
        </p:nvSpPr>
        <p:spPr>
          <a:xfrm>
            <a:off x="548640" y="44348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562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892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 Evaluation &amp; RF Threshold Tuning</a:t>
            </a:r>
            <a:endParaRPr lang="en-US" sz="1400" dirty="0"/>
          </a:p>
        </p:txBody>
      </p:sp>
      <p:sp>
        <p:nvSpPr>
          <p:cNvPr id="30" name="method-arrow-7"/>
          <p:cNvSpPr/>
          <p:nvPr/>
        </p:nvSpPr>
        <p:spPr>
          <a:xfrm>
            <a:off x="2962656" y="49834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method-step-8"/>
          <p:cNvSpPr/>
          <p:nvPr/>
        </p:nvSpPr>
        <p:spPr>
          <a:xfrm>
            <a:off x="3246120" y="44348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29000" y="4562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4892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LIME Explainability (Random Forest)</a:t>
            </a:r>
            <a:endParaRPr lang="en-US" sz="1400" dirty="0"/>
          </a:p>
        </p:txBody>
      </p:sp>
      <p:sp>
        <p:nvSpPr>
          <p:cNvPr id="34" name="method-arrow-8"/>
          <p:cNvSpPr/>
          <p:nvPr/>
        </p:nvSpPr>
        <p:spPr>
          <a:xfrm>
            <a:off x="5660136" y="498348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method-step-9"/>
          <p:cNvSpPr/>
          <p:nvPr/>
        </p:nvSpPr>
        <p:spPr>
          <a:xfrm>
            <a:off x="5943600" y="4434840"/>
            <a:ext cx="2377440" cy="10972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26480" y="4562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126480" y="4892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Final Prediction &amp; Conclusions</a:t>
            </a:r>
            <a:endParaRPr lang="en-US" sz="1400" dirty="0"/>
          </a:p>
        </p:txBody>
      </p:sp>
      <p:sp>
        <p:nvSpPr>
          <p:cNvPr id="38" name="metrics-panel"/>
          <p:cNvSpPr/>
          <p:nvPr/>
        </p:nvSpPr>
        <p:spPr>
          <a:xfrm>
            <a:off x="8686800" y="1691640"/>
            <a:ext cx="2953512" cy="38404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1540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EVALUATION METRICS</a:t>
            </a:r>
            <a:endParaRPr lang="en-US" sz="1100" dirty="0"/>
          </a:p>
        </p:txBody>
      </p:sp>
      <p:sp>
        <p:nvSpPr>
          <p:cNvPr id="40" name="tag-PLANNED"/>
          <p:cNvSpPr/>
          <p:nvPr/>
        </p:nvSpPr>
        <p:spPr>
          <a:xfrm>
            <a:off x="8915400" y="2194560"/>
            <a:ext cx="128016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154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tx1"/>
                </a:solidFill>
              </a:rPr>
              <a:t>COMPLETED</a:t>
            </a:r>
            <a:endParaRPr lang="en-US" sz="1000" dirty="0"/>
          </a:p>
        </p:txBody>
      </p:sp>
      <p:sp>
        <p:nvSpPr>
          <p:cNvPr id="42" name="metric-rule-0"/>
          <p:cNvSpPr/>
          <p:nvPr/>
        </p:nvSpPr>
        <p:spPr>
          <a:xfrm>
            <a:off x="8915400" y="2697480"/>
            <a:ext cx="249631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15400" y="27340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Confusion Matrix</a:t>
            </a:r>
            <a:endParaRPr lang="en-US" sz="1500" dirty="0"/>
          </a:p>
        </p:txBody>
      </p:sp>
      <p:sp>
        <p:nvSpPr>
          <p:cNvPr id="44" name="metric-rule-1"/>
          <p:cNvSpPr/>
          <p:nvPr/>
        </p:nvSpPr>
        <p:spPr>
          <a:xfrm>
            <a:off x="8915400" y="3154680"/>
            <a:ext cx="249631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15400" y="3191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Accuracy</a:t>
            </a:r>
            <a:endParaRPr lang="en-US" sz="1500" dirty="0"/>
          </a:p>
        </p:txBody>
      </p:sp>
      <p:sp>
        <p:nvSpPr>
          <p:cNvPr id="46" name="metric-rule-2"/>
          <p:cNvSpPr/>
          <p:nvPr/>
        </p:nvSpPr>
        <p:spPr>
          <a:xfrm>
            <a:off x="8915400" y="3611880"/>
            <a:ext cx="249631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915400" y="36484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Precision</a:t>
            </a:r>
            <a:endParaRPr lang="en-US" sz="1500" dirty="0"/>
          </a:p>
        </p:txBody>
      </p:sp>
      <p:sp>
        <p:nvSpPr>
          <p:cNvPr id="48" name="metric-rule-3"/>
          <p:cNvSpPr/>
          <p:nvPr/>
        </p:nvSpPr>
        <p:spPr>
          <a:xfrm>
            <a:off x="8915400" y="4069080"/>
            <a:ext cx="249631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15400" y="41056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Recall</a:t>
            </a:r>
            <a:endParaRPr lang="en-US" sz="1500" dirty="0"/>
          </a:p>
        </p:txBody>
      </p:sp>
      <p:sp>
        <p:nvSpPr>
          <p:cNvPr id="50" name="metric-rule-4"/>
          <p:cNvSpPr/>
          <p:nvPr/>
        </p:nvSpPr>
        <p:spPr>
          <a:xfrm>
            <a:off x="8915400" y="4526280"/>
            <a:ext cx="249631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915400" y="45628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F1-Score</a:t>
            </a:r>
            <a:endParaRPr lang="en-US" sz="1500" dirty="0"/>
          </a:p>
        </p:txBody>
      </p:sp>
      <p:sp>
        <p:nvSpPr>
          <p:cNvPr id="52" name="metric-rule-5"/>
          <p:cNvSpPr/>
          <p:nvPr/>
        </p:nvSpPr>
        <p:spPr>
          <a:xfrm>
            <a:off x="8915400" y="4983480"/>
            <a:ext cx="249631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915400" y="50200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ROC-AUC</a:t>
            </a:r>
            <a:endParaRPr lang="en-US" sz="1500" dirty="0"/>
          </a:p>
        </p:txBody>
      </p:sp>
      <p:sp>
        <p:nvSpPr>
          <p:cNvPr id="54" name="legend-done"/>
          <p:cNvSpPr/>
          <p:nvPr/>
        </p:nvSpPr>
        <p:spPr>
          <a:xfrm>
            <a:off x="548640" y="5852160"/>
            <a:ext cx="164592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22960" y="5788152"/>
            <a:ext cx="108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Steps 1–9: completed in R  ·  LIME shown for one case; threshold tuning used the test set</a:t>
            </a:r>
            <a:endParaRPr lang="en-US" sz="130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Logistic Regression: Evaluation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Test-set results (n = 6,481)  ·  baseline model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6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6" name="fig-card"/>
          <p:cNvSpPr/>
          <p:nvPr/>
        </p:nvSpPr>
        <p:spPr>
          <a:xfrm>
            <a:off x="548640" y="1554480"/>
            <a:ext cx="3108960" cy="3749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731520" y="168249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100" dirty="0">
                <a:solidFill>
                  <a:schemeClr val="bg1"/>
                </a:solidFill>
              </a:rPr>
              <a:t>CONFUSION MATRIX (TEST SET)</a:t>
            </a:r>
          </a:p>
        </p:txBody>
      </p:sp>
      <p:sp>
        <p:nvSpPr>
          <p:cNvPr id="8" name="fig-placeholder"/>
          <p:cNvSpPr/>
          <p:nvPr/>
        </p:nvSpPr>
        <p:spPr>
          <a:xfrm>
            <a:off x="731520" y="2057400"/>
            <a:ext cx="2743200" cy="306324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9" name="Text"/>
          <p:cNvSpPr txBox="1"/>
          <p:nvPr/>
        </p:nvSpPr>
        <p:spPr>
          <a:xfrm>
            <a:off x="868680" y="2057400"/>
            <a:ext cx="2468880" cy="3063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[Figure placeholder]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chemeClr val="bg2"/>
                </a:solidFill>
              </a:rPr>
              <a:t>Paste the confusion matrix exported from R</a:t>
            </a:r>
          </a:p>
        </p:txBody>
      </p:sp>
      <p:sp>
        <p:nvSpPr>
          <p:cNvPr id="10" name="fig-card"/>
          <p:cNvSpPr/>
          <p:nvPr/>
        </p:nvSpPr>
        <p:spPr>
          <a:xfrm>
            <a:off x="3840480" y="1554480"/>
            <a:ext cx="3108960" cy="3749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023360" y="168249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100" dirty="0">
                <a:solidFill>
                  <a:schemeClr val="bg1"/>
                </a:solidFill>
              </a:rPr>
              <a:t>ROC CURVE (TEST SET)</a:t>
            </a:r>
          </a:p>
        </p:txBody>
      </p:sp>
      <p:sp>
        <p:nvSpPr>
          <p:cNvPr id="12" name="fig-placeholder"/>
          <p:cNvSpPr/>
          <p:nvPr/>
        </p:nvSpPr>
        <p:spPr>
          <a:xfrm>
            <a:off x="4023360" y="2057400"/>
            <a:ext cx="2743200" cy="306324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13" name="Text"/>
          <p:cNvSpPr txBox="1"/>
          <p:nvPr/>
        </p:nvSpPr>
        <p:spPr>
          <a:xfrm>
            <a:off x="4648810" y="2976372"/>
            <a:ext cx="987552" cy="13682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[Figure placeholder]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chemeClr val="bg2"/>
                </a:solidFill>
              </a:rPr>
              <a:t>Paste the ROC curve exported from R</a:t>
            </a:r>
          </a:p>
        </p:txBody>
      </p:sp>
      <p:sp>
        <p:nvSpPr>
          <p:cNvPr id="14" name="metric-card"/>
          <p:cNvSpPr/>
          <p:nvPr/>
        </p:nvSpPr>
        <p:spPr>
          <a:xfrm>
            <a:off x="7178040" y="1554480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7406640" y="1554480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86.19%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509760" y="1554480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Accuracy</a:t>
            </a:r>
          </a:p>
        </p:txBody>
      </p:sp>
      <p:sp>
        <p:nvSpPr>
          <p:cNvPr id="17" name="metric-card"/>
          <p:cNvSpPr/>
          <p:nvPr/>
        </p:nvSpPr>
        <p:spPr>
          <a:xfrm>
            <a:off x="7178040" y="2322576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7406640" y="2322576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75.54%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509760" y="2322576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Precision</a:t>
            </a:r>
          </a:p>
        </p:txBody>
      </p:sp>
      <p:sp>
        <p:nvSpPr>
          <p:cNvPr id="20" name="metric-card"/>
          <p:cNvSpPr/>
          <p:nvPr/>
        </p:nvSpPr>
        <p:spPr>
          <a:xfrm>
            <a:off x="7178040" y="3090672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7406640" y="3090672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54.48%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509760" y="3090672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Recall</a:t>
            </a:r>
          </a:p>
        </p:txBody>
      </p:sp>
      <p:sp>
        <p:nvSpPr>
          <p:cNvPr id="23" name="metric-card"/>
          <p:cNvSpPr/>
          <p:nvPr/>
        </p:nvSpPr>
        <p:spPr>
          <a:xfrm>
            <a:off x="7178040" y="3858768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7406640" y="3858768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0.6330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9509760" y="3858768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F1-score</a:t>
            </a:r>
          </a:p>
        </p:txBody>
      </p:sp>
      <p:sp>
        <p:nvSpPr>
          <p:cNvPr id="26" name="metric-card"/>
          <p:cNvSpPr/>
          <p:nvPr/>
        </p:nvSpPr>
        <p:spPr>
          <a:xfrm>
            <a:off x="7178040" y="4626864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7406640" y="4626864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0.8639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9509760" y="4626864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ROC-AUC</a:t>
            </a:r>
          </a:p>
        </p:txBody>
      </p:sp>
      <p:sp>
        <p:nvSpPr>
          <p:cNvPr id="29" name="note-card"/>
          <p:cNvSpPr/>
          <p:nvPr/>
        </p:nvSpPr>
        <p:spPr>
          <a:xfrm>
            <a:off x="548640" y="5559552"/>
            <a:ext cx="11091672" cy="612648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30" name="note-text"/>
          <p:cNvSpPr txBox="1"/>
          <p:nvPr/>
        </p:nvSpPr>
        <p:spPr>
          <a:xfrm>
            <a:off x="777240" y="5559552"/>
            <a:ext cx="10634472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Reading the results: </a:t>
            </a:r>
            <a:r>
              <a:rPr lang="en-US" sz="1400" dirty="0">
                <a:solidFill>
                  <a:schemeClr val="bg1"/>
                </a:solidFill>
              </a:rPr>
              <a:t>recall of 54.48% means the model misses a large share of actual defaults, even though accuracy looks high.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D59AA27-02FF-0B36-594E-C0CF3FB63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554480"/>
            <a:ext cx="3108960" cy="374904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61ECA67-EB71-6CC0-9B16-0F5A36566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90"/>
          <a:stretch>
            <a:fillRect/>
          </a:stretch>
        </p:blipFill>
        <p:spPr>
          <a:xfrm>
            <a:off x="548640" y="1911096"/>
            <a:ext cx="310896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Random Forest: Evaluation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Baseline Random Forest — Threshold 0.50  ·  300 trees  ·  test-set results (n = 6,481)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6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6" name="fig-card"/>
          <p:cNvSpPr/>
          <p:nvPr/>
        </p:nvSpPr>
        <p:spPr>
          <a:xfrm>
            <a:off x="548640" y="1554480"/>
            <a:ext cx="3108960" cy="3749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731520" y="168249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100" dirty="0">
                <a:solidFill>
                  <a:schemeClr val="bg1"/>
                </a:solidFill>
              </a:rPr>
              <a:t>BASELINE CONFUSION MATRIX · 0.50</a:t>
            </a:r>
          </a:p>
        </p:txBody>
      </p:sp>
      <p:sp>
        <p:nvSpPr>
          <p:cNvPr id="8" name="fig-placeholder"/>
          <p:cNvSpPr/>
          <p:nvPr/>
        </p:nvSpPr>
        <p:spPr>
          <a:xfrm>
            <a:off x="731520" y="2057400"/>
            <a:ext cx="2743200" cy="306324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9" name="Text"/>
          <p:cNvSpPr txBox="1"/>
          <p:nvPr/>
        </p:nvSpPr>
        <p:spPr>
          <a:xfrm>
            <a:off x="868680" y="2057400"/>
            <a:ext cx="2468880" cy="3063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[Figure placeholder]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chemeClr val="bg2"/>
                </a:solidFill>
              </a:rPr>
              <a:t>Paste the confusion matrix exported from R</a:t>
            </a:r>
          </a:p>
        </p:txBody>
      </p:sp>
      <p:sp>
        <p:nvSpPr>
          <p:cNvPr id="10" name="fig-card"/>
          <p:cNvSpPr/>
          <p:nvPr/>
        </p:nvSpPr>
        <p:spPr>
          <a:xfrm>
            <a:off x="3840480" y="1554480"/>
            <a:ext cx="3108960" cy="3749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023360" y="168249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100" dirty="0">
                <a:solidFill>
                  <a:schemeClr val="bg1"/>
                </a:solidFill>
              </a:rPr>
              <a:t>BASELINE ROC CURVE · 0.50</a:t>
            </a:r>
          </a:p>
        </p:txBody>
      </p:sp>
      <p:sp>
        <p:nvSpPr>
          <p:cNvPr id="12" name="fig-placeholder"/>
          <p:cNvSpPr/>
          <p:nvPr/>
        </p:nvSpPr>
        <p:spPr>
          <a:xfrm>
            <a:off x="4023360" y="2057400"/>
            <a:ext cx="2743200" cy="306324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dash"/>
          </a:ln>
        </p:spPr>
      </p:sp>
      <p:sp>
        <p:nvSpPr>
          <p:cNvPr id="13" name="Text"/>
          <p:cNvSpPr txBox="1"/>
          <p:nvPr/>
        </p:nvSpPr>
        <p:spPr>
          <a:xfrm>
            <a:off x="4160520" y="2057400"/>
            <a:ext cx="2468880" cy="3063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[Figure placeholder]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chemeClr val="bg2"/>
                </a:solidFill>
              </a:rPr>
              <a:t>Paste the ROC curve exported from R</a:t>
            </a:r>
          </a:p>
        </p:txBody>
      </p:sp>
      <p:sp>
        <p:nvSpPr>
          <p:cNvPr id="14" name="metric-card"/>
          <p:cNvSpPr/>
          <p:nvPr/>
        </p:nvSpPr>
        <p:spPr>
          <a:xfrm>
            <a:off x="7178040" y="1554480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7406640" y="1554480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93.75%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509760" y="1554480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Accuracy</a:t>
            </a:r>
          </a:p>
        </p:txBody>
      </p:sp>
      <p:sp>
        <p:nvSpPr>
          <p:cNvPr id="17" name="metric-card"/>
          <p:cNvSpPr/>
          <p:nvPr/>
        </p:nvSpPr>
        <p:spPr>
          <a:xfrm>
            <a:off x="7178040" y="2322576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7406640" y="2322576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97.65%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509760" y="2322576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Precision</a:t>
            </a:r>
          </a:p>
        </p:txBody>
      </p:sp>
      <p:sp>
        <p:nvSpPr>
          <p:cNvPr id="20" name="metric-card"/>
          <p:cNvSpPr/>
          <p:nvPr/>
        </p:nvSpPr>
        <p:spPr>
          <a:xfrm>
            <a:off x="7178040" y="3090672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7406640" y="3090672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73.18%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509760" y="3090672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Recall</a:t>
            </a:r>
          </a:p>
        </p:txBody>
      </p:sp>
      <p:sp>
        <p:nvSpPr>
          <p:cNvPr id="23" name="metric-card"/>
          <p:cNvSpPr/>
          <p:nvPr/>
        </p:nvSpPr>
        <p:spPr>
          <a:xfrm>
            <a:off x="7178040" y="3858768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7406640" y="3858768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0.8366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9509760" y="3858768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F1-score</a:t>
            </a:r>
          </a:p>
        </p:txBody>
      </p:sp>
      <p:sp>
        <p:nvSpPr>
          <p:cNvPr id="26" name="metric-card"/>
          <p:cNvSpPr/>
          <p:nvPr/>
        </p:nvSpPr>
        <p:spPr>
          <a:xfrm>
            <a:off x="7178040" y="4626864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7406640" y="4626864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0.9384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9509760" y="4626864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ROC-AUC</a:t>
            </a:r>
          </a:p>
        </p:txBody>
      </p:sp>
      <p:sp>
        <p:nvSpPr>
          <p:cNvPr id="29" name="note-card"/>
          <p:cNvSpPr/>
          <p:nvPr/>
        </p:nvSpPr>
        <p:spPr>
          <a:xfrm>
            <a:off x="548640" y="5559552"/>
            <a:ext cx="11091672" cy="612648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30" name="note-text"/>
          <p:cNvSpPr txBox="1"/>
          <p:nvPr/>
        </p:nvSpPr>
        <p:spPr>
          <a:xfrm>
            <a:off x="777240" y="5559552"/>
            <a:ext cx="10634472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Reading the results: </a:t>
            </a:r>
            <a:r>
              <a:rPr lang="en-US" sz="1400" dirty="0">
                <a:solidFill>
                  <a:schemeClr val="bg1"/>
                </a:solidFill>
              </a:rPr>
              <a:t>baseline precision is very high (97.65%), but recall is 73.18%, so some actual defaults are missed. Tuned threshold 0.40 results are on the next slide.</a:t>
            </a:r>
          </a:p>
          <a:p>
            <a:pPr marL="0" indent="0" algn="l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521FD86-EE6C-0601-C5D5-965FBD662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554480"/>
            <a:ext cx="3108960" cy="375818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C1BCB73-3802-55CF-F435-43A3D7F0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93"/>
          <a:stretch>
            <a:fillRect/>
          </a:stretch>
        </p:blipFill>
        <p:spPr>
          <a:xfrm>
            <a:off x="548640" y="1911096"/>
            <a:ext cx="310896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Random Forest: Tuned Threshold (0.40)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Tuned Random Forest — Threshold 0.40  ·  same test set (n = 6,481)  ·  threshold chosen using test-set results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6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6" name="fig-card"/>
          <p:cNvSpPr/>
          <p:nvPr/>
        </p:nvSpPr>
        <p:spPr>
          <a:xfrm>
            <a:off x="548640" y="1554480"/>
            <a:ext cx="3108960" cy="3749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731520" y="168249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100" dirty="0">
                <a:solidFill>
                  <a:schemeClr val="bg1"/>
                </a:solidFill>
              </a:rPr>
              <a:t>CONFUSION MATRIX · 0.40</a:t>
            </a:r>
          </a:p>
        </p:txBody>
      </p:sp>
      <p:sp>
        <p:nvSpPr>
          <p:cNvPr id="10" name="fig-card"/>
          <p:cNvSpPr/>
          <p:nvPr/>
        </p:nvSpPr>
        <p:spPr>
          <a:xfrm>
            <a:off x="3840480" y="1554480"/>
            <a:ext cx="3108960" cy="37490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4023360" y="168249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100" dirty="0">
                <a:solidFill>
                  <a:schemeClr val="bg1"/>
                </a:solidFill>
              </a:rPr>
              <a:t>THRESHOLD TUNING CURVE</a:t>
            </a:r>
          </a:p>
        </p:txBody>
      </p:sp>
      <p:sp>
        <p:nvSpPr>
          <p:cNvPr id="14" name="metric-card"/>
          <p:cNvSpPr/>
          <p:nvPr/>
        </p:nvSpPr>
        <p:spPr>
          <a:xfrm>
            <a:off x="7178040" y="1554480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7406640" y="1554480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93.64%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509760" y="1554480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Accuracy</a:t>
            </a:r>
          </a:p>
        </p:txBody>
      </p:sp>
      <p:sp>
        <p:nvSpPr>
          <p:cNvPr id="17" name="metric-card"/>
          <p:cNvSpPr/>
          <p:nvPr/>
        </p:nvSpPr>
        <p:spPr>
          <a:xfrm>
            <a:off x="7178040" y="2322576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7406640" y="2322576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94.67%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9509760" y="2322576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Precision</a:t>
            </a:r>
          </a:p>
        </p:txBody>
      </p:sp>
      <p:sp>
        <p:nvSpPr>
          <p:cNvPr id="20" name="metric-card"/>
          <p:cNvSpPr/>
          <p:nvPr/>
        </p:nvSpPr>
        <p:spPr>
          <a:xfrm>
            <a:off x="7178040" y="3090672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"/>
          <p:cNvSpPr txBox="1"/>
          <p:nvPr/>
        </p:nvSpPr>
        <p:spPr>
          <a:xfrm>
            <a:off x="7406640" y="3090672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75.16%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509760" y="3090672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Recall</a:t>
            </a:r>
          </a:p>
        </p:txBody>
      </p:sp>
      <p:sp>
        <p:nvSpPr>
          <p:cNvPr id="23" name="metric-card"/>
          <p:cNvSpPr/>
          <p:nvPr/>
        </p:nvSpPr>
        <p:spPr>
          <a:xfrm>
            <a:off x="7178040" y="3858768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"/>
          <p:cNvSpPr txBox="1"/>
          <p:nvPr/>
        </p:nvSpPr>
        <p:spPr>
          <a:xfrm>
            <a:off x="7406640" y="3858768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0.8379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9509760" y="3858768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F1-score</a:t>
            </a:r>
          </a:p>
        </p:txBody>
      </p:sp>
      <p:sp>
        <p:nvSpPr>
          <p:cNvPr id="26" name="metric-card"/>
          <p:cNvSpPr/>
          <p:nvPr/>
        </p:nvSpPr>
        <p:spPr>
          <a:xfrm>
            <a:off x="7178040" y="4626864"/>
            <a:ext cx="4462272" cy="676656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"/>
          <p:cNvSpPr txBox="1"/>
          <p:nvPr/>
        </p:nvSpPr>
        <p:spPr>
          <a:xfrm>
            <a:off x="7406640" y="4626864"/>
            <a:ext cx="21031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86.99%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9509760" y="4626864"/>
            <a:ext cx="20116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Balanced accuracy</a:t>
            </a:r>
          </a:p>
        </p:txBody>
      </p:sp>
      <p:sp>
        <p:nvSpPr>
          <p:cNvPr id="29" name="note-card"/>
          <p:cNvSpPr/>
          <p:nvPr/>
        </p:nvSpPr>
        <p:spPr>
          <a:xfrm>
            <a:off x="548640" y="5504688"/>
            <a:ext cx="11091672" cy="722376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30" name="note-text"/>
          <p:cNvSpPr txBox="1"/>
          <p:nvPr/>
        </p:nvSpPr>
        <p:spPr>
          <a:xfrm>
            <a:off x="777240" y="5504688"/>
            <a:ext cx="10634472" cy="722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Trade-off: </a:t>
            </a:r>
            <a:r>
              <a:rPr lang="en-US" sz="1300" dirty="0">
                <a:solidFill>
                  <a:schemeClr val="bg1"/>
                </a:solidFill>
              </a:rPr>
              <a:t>vs baseline (0.50), recall rose from ≈73% to 75.16% while precision fell from ≈97.65% to 94.67%: more defaults caught (1,065) but more false positives (60); 352 defaults are still missed. Threshold was chosen on the test set; a separate validation set is preferable.</a:t>
            </a:r>
          </a:p>
        </p:txBody>
      </p:sp>
      <p:pic>
        <p:nvPicPr>
          <p:cNvPr id="31" name="Tuned RF confusion matrix" descr="Tuned Random Forest confusion matrix at threshold 0.40: 5004, 352, 60, 10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926080" cy="2926080"/>
          </a:xfrm>
          <a:prstGeom prst="rect">
            <a:avLst/>
          </a:prstGeom>
        </p:spPr>
      </p:pic>
      <p:pic>
        <p:nvPicPr>
          <p:cNvPr id="32" name="RF threshold tuning plot" descr="Precision and recall of Random Forest across probability thresholds 0.50 to 0.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01168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Model Comparison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Logistic Regression vs Random Forest on the same test set (n = 6,481).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6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6" name="table-card"/>
          <p:cNvSpPr/>
          <p:nvPr/>
        </p:nvSpPr>
        <p:spPr>
          <a:xfrm>
            <a:off x="548640" y="1554480"/>
            <a:ext cx="5212080" cy="31546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91640"/>
          <a:ext cx="4937760" cy="288035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chemeClr val="bg2"/>
                          </a:solidFill>
                        </a:rPr>
                        <a:t>METRIC</a:t>
                      </a:r>
                    </a:p>
                  </a:txBody>
                  <a:tcPr anchor="ctr">
                    <a:lnT w="0">
                      <a:noFill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accent2"/>
                          </a:solidFill>
                        </a:rPr>
                        <a:t>LOGISTIC REG.</a:t>
                      </a:r>
                    </a:p>
                  </a:txBody>
                  <a:tcPr anchor="ctr">
                    <a:lnT w="0">
                      <a:noFill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accent1"/>
                          </a:solidFill>
                        </a:rPr>
                        <a:t>RF BASELINE</a:t>
                      </a:r>
                    </a:p>
                    <a:p>
                      <a:pPr algn="ctr"/>
                      <a:r>
                        <a:rPr sz="1100" b="1">
                          <a:solidFill>
                            <a:schemeClr val="accent1"/>
                          </a:solidFill>
                        </a:rPr>
                        <a:t>(0.50)</a:t>
                      </a:r>
                    </a:p>
                  </a:txBody>
                  <a:tcPr anchor="ctr">
                    <a:lnT w="0">
                      <a:noFill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bg1"/>
                          </a:solidFill>
                        </a:rPr>
                        <a:t>RF TUNED</a:t>
                      </a:r>
                    </a:p>
                    <a:p>
                      <a:pPr algn="ctr"/>
                      <a:r>
                        <a:rPr sz="1100" b="1">
                          <a:solidFill>
                            <a:schemeClr val="bg1"/>
                          </a:solidFill>
                        </a:rPr>
                        <a:t>(0.40)</a:t>
                      </a:r>
                    </a:p>
                  </a:txBody>
                  <a:tcPr anchor="ctr">
                    <a:lnT w="0">
                      <a:noFill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9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chemeClr val="bg1"/>
                          </a:solidFill>
                        </a:rPr>
                        <a:t>86.19%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accent1"/>
                          </a:solidFill>
                        </a:rPr>
                        <a:t>93.75%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bg1"/>
                          </a:solidFill>
                        </a:rPr>
                        <a:t>93.64%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9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chemeClr val="bg1"/>
                          </a:solidFill>
                        </a:rPr>
                        <a:t>Precision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chemeClr val="bg1"/>
                          </a:solidFill>
                        </a:rPr>
                        <a:t>75.54%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accent1"/>
                          </a:solidFill>
                        </a:rPr>
                        <a:t>97.65%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bg1"/>
                          </a:solidFill>
                        </a:rPr>
                        <a:t>94.67%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9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chemeClr val="bg1"/>
                          </a:solidFill>
                        </a:rPr>
                        <a:t>Recall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chemeClr val="bg1"/>
                          </a:solidFill>
                        </a:rPr>
                        <a:t>54.48%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accent1"/>
                          </a:solidFill>
                        </a:rPr>
                        <a:t>73.18%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bg1"/>
                          </a:solidFill>
                        </a:rPr>
                        <a:t>75.16%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9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chemeClr val="bg1"/>
                          </a:solidFill>
                        </a:rPr>
                        <a:t>F1-score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chemeClr val="bg1"/>
                          </a:solidFill>
                        </a:rPr>
                        <a:t>0.6330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accent1"/>
                          </a:solidFill>
                        </a:rPr>
                        <a:t>0.8366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bg1"/>
                          </a:solidFill>
                        </a:rPr>
                        <a:t>0.8379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97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chemeClr val="bg1"/>
                          </a:solidFill>
                        </a:rPr>
                        <a:t>ROC-AUC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chemeClr val="bg1"/>
                          </a:solidFill>
                        </a:rPr>
                        <a:t>0.8639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chemeClr val="accent1"/>
                          </a:solidFill>
                        </a:rPr>
                        <a:t>0.9384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chemeClr val="bg1"/>
                          </a:solidFill>
                        </a:rPr>
                        <a:t>—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chemeClr val="accent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best-callout"/>
          <p:cNvSpPr/>
          <p:nvPr/>
        </p:nvSpPr>
        <p:spPr>
          <a:xfrm>
            <a:off x="548640" y="4846320"/>
            <a:ext cx="5212080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"/>
          <p:cNvSpPr txBox="1"/>
          <p:nvPr/>
        </p:nvSpPr>
        <p:spPr>
          <a:xfrm>
            <a:off x="777240" y="48463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Baseline RF beats Logistic Regression on all 5 metrics</a:t>
            </a:r>
          </a:p>
        </p:txBody>
      </p:sp>
      <p:sp>
        <p:nvSpPr>
          <p:cNvPr id="10" name="chart-card"/>
          <p:cNvSpPr/>
          <p:nvPr/>
        </p:nvSpPr>
        <p:spPr>
          <a:xfrm>
            <a:off x="5943600" y="1554480"/>
            <a:ext cx="5696712" cy="3840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6126480" y="161848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100" dirty="0">
                <a:solidFill>
                  <a:schemeClr val="bg1"/>
                </a:solidFill>
              </a:rPr>
              <a:t>METRICS (%): LOGISTIC REGRESSION VS BASELINE RF (0.50)</a:t>
            </a:r>
          </a:p>
        </p:txBody>
      </p:sp>
      <p:sp>
        <p:nvSpPr>
          <p:cNvPr id="13" name="note-card"/>
          <p:cNvSpPr/>
          <p:nvPr/>
        </p:nvSpPr>
        <p:spPr>
          <a:xfrm>
            <a:off x="548640" y="5559552"/>
            <a:ext cx="11091672" cy="612648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14" name="note-text"/>
          <p:cNvSpPr txBox="1"/>
          <p:nvPr/>
        </p:nvSpPr>
        <p:spPr>
          <a:xfrm>
            <a:off x="777240" y="5559552"/>
            <a:ext cx="10634472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Limitation: </a:t>
            </a:r>
            <a:r>
              <a:rPr lang="en-US" sz="1400" dirty="0">
                <a:solidFill>
                  <a:schemeClr val="bg1"/>
                </a:solidFill>
              </a:rPr>
              <a:t>Baseline RF recall is 73.18%; tuned (0.40) recall is 75.16% with lower precision, and 352 defaults are still missed. Tuned threshold was chosen on the test set; “—” = not reported. Chart shows baseline RF; F1 and ROC-AUC are ×100.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A7145B-92D3-744B-AFD7-41220668B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19"/>
          <a:stretch>
            <a:fillRect/>
          </a:stretch>
        </p:blipFill>
        <p:spPr>
          <a:xfrm>
            <a:off x="5943600" y="1554480"/>
            <a:ext cx="5696712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Random Forest Feature Importance</a:t>
            </a:r>
            <a:endParaRPr lang="en-US" sz="3400" dirty="0"/>
          </a:p>
        </p:txBody>
      </p:sp>
      <p:sp>
        <p:nvSpPr>
          <p:cNvPr id="3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Ranked by Mean Decrease in Gini  ·  importance reflects prediction, not causation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66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6" name="rank-card-1"/>
          <p:cNvSpPr/>
          <p:nvPr/>
        </p:nvSpPr>
        <p:spPr>
          <a:xfrm>
            <a:off x="548640" y="1554480"/>
            <a:ext cx="5440680" cy="64008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63040" y="155448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loan_percent_income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Loan-to-income ratio</a:t>
            </a:r>
          </a:p>
        </p:txBody>
      </p:sp>
      <p:sp>
        <p:nvSpPr>
          <p:cNvPr id="9" name="rank-card-2"/>
          <p:cNvSpPr/>
          <p:nvPr/>
        </p:nvSpPr>
        <p:spPr>
          <a:xfrm>
            <a:off x="548640" y="2304288"/>
            <a:ext cx="5440680" cy="64008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731520" y="230428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63040" y="230428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person_income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Income</a:t>
            </a:r>
          </a:p>
        </p:txBody>
      </p:sp>
      <p:sp>
        <p:nvSpPr>
          <p:cNvPr id="12" name="rank-card-3"/>
          <p:cNvSpPr/>
          <p:nvPr/>
        </p:nvSpPr>
        <p:spPr>
          <a:xfrm>
            <a:off x="548640" y="3054096"/>
            <a:ext cx="5440680" cy="640080"/>
          </a:xfrm>
          <a:prstGeom prst="rect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731520" y="3054096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63040" y="3054096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loan_grade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Loan grade</a:t>
            </a:r>
          </a:p>
        </p:txBody>
      </p:sp>
      <p:sp>
        <p:nvSpPr>
          <p:cNvPr id="15" name="rank-card-4"/>
          <p:cNvSpPr/>
          <p:nvPr/>
        </p:nvSpPr>
        <p:spPr>
          <a:xfrm>
            <a:off x="548640" y="3803904"/>
            <a:ext cx="5440680" cy="640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731520" y="3803904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63040" y="3803904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loan_int_rate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Interest rate</a:t>
            </a:r>
          </a:p>
        </p:txBody>
      </p:sp>
      <p:sp>
        <p:nvSpPr>
          <p:cNvPr id="18" name="rank-card-5"/>
          <p:cNvSpPr/>
          <p:nvPr/>
        </p:nvSpPr>
        <p:spPr>
          <a:xfrm>
            <a:off x="548640" y="4553712"/>
            <a:ext cx="5440680" cy="640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731520" y="45537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463040" y="4553712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person_home_ownership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Home ownership</a:t>
            </a:r>
          </a:p>
        </p:txBody>
      </p:sp>
      <p:sp>
        <p:nvSpPr>
          <p:cNvPr id="21" name="rank-card-6"/>
          <p:cNvSpPr/>
          <p:nvPr/>
        </p:nvSpPr>
        <p:spPr>
          <a:xfrm>
            <a:off x="548640" y="5303520"/>
            <a:ext cx="5440680" cy="640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731520" y="5303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463040" y="530352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loan_intent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Loan purpose</a:t>
            </a:r>
          </a:p>
        </p:txBody>
      </p:sp>
      <p:sp>
        <p:nvSpPr>
          <p:cNvPr id="24" name="rank-card-7"/>
          <p:cNvSpPr/>
          <p:nvPr/>
        </p:nvSpPr>
        <p:spPr>
          <a:xfrm>
            <a:off x="6199632" y="1554480"/>
            <a:ext cx="5440680" cy="640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Text"/>
          <p:cNvSpPr txBox="1"/>
          <p:nvPr/>
        </p:nvSpPr>
        <p:spPr>
          <a:xfrm>
            <a:off x="6382512" y="1554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07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7114032" y="155448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loan_amnt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Loan amount</a:t>
            </a:r>
          </a:p>
        </p:txBody>
      </p:sp>
      <p:sp>
        <p:nvSpPr>
          <p:cNvPr id="27" name="rank-card-8"/>
          <p:cNvSpPr/>
          <p:nvPr/>
        </p:nvSpPr>
        <p:spPr>
          <a:xfrm>
            <a:off x="6199632" y="2304288"/>
            <a:ext cx="5440680" cy="640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"/>
          <p:cNvSpPr txBox="1"/>
          <p:nvPr/>
        </p:nvSpPr>
        <p:spPr>
          <a:xfrm>
            <a:off x="6382512" y="230428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08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114032" y="230428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person_emp_length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Employment length</a:t>
            </a:r>
          </a:p>
        </p:txBody>
      </p:sp>
      <p:sp>
        <p:nvSpPr>
          <p:cNvPr id="30" name="rank-card-9"/>
          <p:cNvSpPr/>
          <p:nvPr/>
        </p:nvSpPr>
        <p:spPr>
          <a:xfrm>
            <a:off x="6199632" y="3054096"/>
            <a:ext cx="5440680" cy="640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1" name="Text"/>
          <p:cNvSpPr txBox="1"/>
          <p:nvPr/>
        </p:nvSpPr>
        <p:spPr>
          <a:xfrm>
            <a:off x="6382512" y="3054096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09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114032" y="3054096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person_age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Age</a:t>
            </a:r>
          </a:p>
        </p:txBody>
      </p:sp>
      <p:sp>
        <p:nvSpPr>
          <p:cNvPr id="33" name="rank-card-10"/>
          <p:cNvSpPr/>
          <p:nvPr/>
        </p:nvSpPr>
        <p:spPr>
          <a:xfrm>
            <a:off x="6199632" y="3803904"/>
            <a:ext cx="5440680" cy="640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Text"/>
          <p:cNvSpPr txBox="1"/>
          <p:nvPr/>
        </p:nvSpPr>
        <p:spPr>
          <a:xfrm>
            <a:off x="6382512" y="3803904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10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114032" y="3803904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cb_person_cred_hist_length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Credit-history length</a:t>
            </a:r>
          </a:p>
        </p:txBody>
      </p:sp>
      <p:sp>
        <p:nvSpPr>
          <p:cNvPr id="36" name="rank-card-11"/>
          <p:cNvSpPr/>
          <p:nvPr/>
        </p:nvSpPr>
        <p:spPr>
          <a:xfrm>
            <a:off x="6199632" y="4553712"/>
            <a:ext cx="5440680" cy="640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7" name="Text"/>
          <p:cNvSpPr txBox="1"/>
          <p:nvPr/>
        </p:nvSpPr>
        <p:spPr>
          <a:xfrm>
            <a:off x="6382512" y="4553712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11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7114032" y="4553712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</a:rPr>
              <a:t>cb_person_default_on_file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Previous default on file</a:t>
            </a:r>
          </a:p>
        </p:txBody>
      </p:sp>
      <p:sp>
        <p:nvSpPr>
          <p:cNvPr id="39" name="note-card"/>
          <p:cNvSpPr/>
          <p:nvPr/>
        </p:nvSpPr>
        <p:spPr>
          <a:xfrm>
            <a:off x="6199632" y="5303520"/>
            <a:ext cx="5440680" cy="64008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40" name="note-text"/>
          <p:cNvSpPr txBox="1"/>
          <p:nvPr/>
        </p:nvSpPr>
        <p:spPr>
          <a:xfrm>
            <a:off x="6428232" y="530352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Note: </a:t>
            </a:r>
            <a:r>
              <a:rPr lang="en-US" sz="1400" dirty="0">
                <a:solidFill>
                  <a:schemeClr val="bg1"/>
                </a:solidFill>
              </a:rPr>
              <a:t>rank shows relative contribution to predictions.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0E9C-0F9A-D0AB-3513-467F37B958F3}"/>
              </a:ext>
            </a:extLst>
          </p:cNvPr>
          <p:cNvSpPr>
            <a:spLocks noGrp="1"/>
          </p:cNvSpPr>
          <p:nvPr>
            <p:ph type="title" idx="110"/>
          </p:nvPr>
        </p:nvSpPr>
        <p:spPr/>
        <p:txBody>
          <a:bodyPr/>
          <a:lstStyle/>
          <a:p>
            <a:r>
              <a:rPr lang="en-IN" dirty="0"/>
              <a:t>LIME Explainability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2F0F3-9F9C-5F3B-0815-5E8CFDE7E04B}"/>
              </a:ext>
            </a:extLst>
          </p:cNvPr>
          <p:cNvSpPr>
            <a:spLocks noGrp="1"/>
          </p:cNvSpPr>
          <p:nvPr>
            <p:ph type="body" idx="111"/>
          </p:nvPr>
        </p:nvSpPr>
        <p:spPr>
          <a:xfrm>
            <a:off x="548640" y="1051559"/>
            <a:ext cx="9418320" cy="685799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What is LIME?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LIME (Local Interpretable Model-agnostic Explanations) explains why a machine learning model makes a prediction for an individual loan applicant.</a:t>
            </a:r>
          </a:p>
          <a:p>
            <a:endParaRPr lang="en-IN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E6CDF4D-A9A0-9B4D-0141-F1400903E4FF}"/>
              </a:ext>
            </a:extLst>
          </p:cNvPr>
          <p:cNvSpPr txBox="1"/>
          <p:nvPr/>
        </p:nvSpPr>
        <p:spPr>
          <a:xfrm>
            <a:off x="9966960" y="27432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6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66303F-1FE1-A6BA-2380-F8ED49E32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9" t="2553" r="2579" b="3617"/>
          <a:stretch>
            <a:fillRect/>
          </a:stretch>
        </p:blipFill>
        <p:spPr>
          <a:xfrm>
            <a:off x="653142" y="1828799"/>
            <a:ext cx="6092891" cy="43480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6848A3-CE5E-F4B5-4EC1-B38D45ECFE52}"/>
              </a:ext>
            </a:extLst>
          </p:cNvPr>
          <p:cNvSpPr txBox="1"/>
          <p:nvPr/>
        </p:nvSpPr>
        <p:spPr>
          <a:xfrm>
            <a:off x="7213746" y="1660148"/>
            <a:ext cx="4325112" cy="4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Case analyzed – Case 20 (LIME run in R on the Random Forest model)</a:t>
            </a:r>
          </a:p>
          <a:p>
            <a:r>
              <a:rPr lang="en-IN" sz="1400" b="0" dirty="0">
                <a:solidFill>
                  <a:schemeClr val="bg1"/>
                </a:solidFill>
              </a:rPr>
              <a:t>Predicted class: Default (1)</a:t>
            </a:r>
          </a:p>
          <a:p>
            <a:r>
              <a:rPr lang="en-IN" sz="1400" b="0" dirty="0">
                <a:solidFill>
                  <a:schemeClr val="bg1"/>
                </a:solidFill>
              </a:rPr>
              <a:t>Actual class: Default (1)</a:t>
            </a:r>
          </a:p>
          <a:p>
            <a:r>
              <a:rPr lang="en-IN" sz="1400" b="0" dirty="0">
                <a:solidFill>
                  <a:schemeClr val="bg1"/>
                </a:solidFill>
              </a:rPr>
              <a:t>Probability reported by LIME: 0.88 (88%)</a:t>
            </a:r>
          </a:p>
          <a:p>
            <a:r>
              <a:rPr lang="en-IN" sz="1400" b="0" dirty="0">
                <a:solidFill>
                  <a:schemeClr val="bg1"/>
                </a:solidFill>
              </a:rPr>
              <a:t>Explanation fit: 0.14 (low)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chemeClr val="bg1"/>
                </a:solidFill>
              </a:rPr>
              <a:t>Important features in the explanation</a:t>
            </a:r>
          </a:p>
          <a:p>
            <a:r>
              <a:rPr lang="en-IN" sz="1400" b="0" dirty="0">
                <a:solidFill>
                  <a:schemeClr val="bg1"/>
                </a:solidFill>
              </a:rPr>
              <a:t>Person income ≤ 39,000 — supports the default prediction.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Home ownership = MORTGAGE — contradicts the default prediction.</a:t>
            </a:r>
          </a:p>
          <a:p>
            <a:r>
              <a:rPr lang="en-IN" sz="1400" b="0" dirty="0">
                <a:solidFill>
                  <a:schemeClr val="bg1"/>
                </a:solidFill>
              </a:rPr>
              <a:t>Loan-to-income ratio, previous default history, loan grade and interest rate also appear.</a:t>
            </a:r>
          </a:p>
          <a:p>
            <a:endParaRPr lang="en-IN" sz="1400" dirty="0"/>
          </a:p>
          <a:p>
            <a:r>
              <a:rPr lang="en-IN" sz="1400" b="1" dirty="0">
                <a:solidFill>
                  <a:schemeClr val="bg1"/>
                </a:solidFill>
              </a:rPr>
              <a:t>Caution:</a:t>
            </a:r>
            <a:r>
              <a:rPr lang="en-IN" sz="1400" b="0" dirty="0">
                <a:solidFill>
                  <a:schemeClr val="bg1"/>
                </a:solidFill>
              </a:rPr>
              <a:t> the explanation fit is only 0.14, so this individual explanation has limited fidelity and should be interpreted cautiously. It does not prove causation or fully explain the Random Forest.</a:t>
            </a:r>
          </a:p>
        </p:txBody>
      </p:sp>
    </p:spTree>
    <p:extLst>
      <p:ext uri="{BB962C8B-B14F-4D97-AF65-F5344CB8AC3E}">
        <p14:creationId xmlns:p14="http://schemas.microsoft.com/office/powerpoint/2010/main" val="3321292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>
            <a:spLocks noGrp="1"/>
          </p:cNvSpPr>
          <p:nvPr>
            <p:ph type="title" idx="110" hasCustomPrompt="1"/>
          </p:nvPr>
        </p:nvSpPr>
        <p:spPr>
          <a:xfrm>
            <a:off x="548640" y="3657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Conclusions &amp; Future 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9050694" y="181854"/>
            <a:ext cx="27109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6600" dirty="0"/>
          </a:p>
        </p:txBody>
      </p:sp>
      <p:sp>
        <p:nvSpPr>
          <p:cNvPr id="4" name="completed-panel"/>
          <p:cNvSpPr/>
          <p:nvPr/>
        </p:nvSpPr>
        <p:spPr>
          <a:xfrm>
            <a:off x="548640" y="1371600"/>
            <a:ext cx="5440680" cy="4754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ompleted-header"/>
          <p:cNvSpPr/>
          <p:nvPr/>
        </p:nvSpPr>
        <p:spPr>
          <a:xfrm>
            <a:off x="548640" y="1371600"/>
            <a:ext cx="544068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chemeClr val="tx1"/>
                </a:solidFill>
              </a:rPr>
              <a:t>KEY CONCLUSIONS ✓</a:t>
            </a:r>
            <a:endParaRPr lang="en-US" sz="1500" dirty="0"/>
          </a:p>
        </p:txBody>
      </p:sp>
      <p:sp>
        <p:nvSpPr>
          <p:cNvPr id="7" name="done-check-0"/>
          <p:cNvSpPr/>
          <p:nvPr/>
        </p:nvSpPr>
        <p:spPr>
          <a:xfrm>
            <a:off x="822960" y="213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0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21.87% of loans default (7,088 of 32,409)</a:t>
            </a:r>
            <a:endParaRPr lang="en-US" sz="1500" dirty="0"/>
          </a:p>
        </p:txBody>
      </p:sp>
      <p:sp>
        <p:nvSpPr>
          <p:cNvPr id="10" name="done-check-1"/>
          <p:cNvSpPr/>
          <p:nvPr/>
        </p:nvSpPr>
        <p:spPr>
          <a:xfrm>
            <a:off x="822960" y="252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52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49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Default rate rises from 9.96% (A) to 98.4% (G)</a:t>
            </a:r>
            <a:endParaRPr lang="en-US" sz="1500" dirty="0"/>
          </a:p>
        </p:txBody>
      </p:sp>
      <p:sp>
        <p:nvSpPr>
          <p:cNvPr id="13" name="done-check-2"/>
          <p:cNvSpPr/>
          <p:nvPr/>
        </p:nvSpPr>
        <p:spPr>
          <a:xfrm>
            <a:off x="822960" y="291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91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88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Rent: 31.6% vs own: 7.49% default rate</a:t>
            </a:r>
            <a:endParaRPr lang="en-US" sz="1500" dirty="0"/>
          </a:p>
        </p:txBody>
      </p:sp>
      <p:sp>
        <p:nvSpPr>
          <p:cNvPr id="16" name="done-check-3"/>
          <p:cNvSpPr/>
          <p:nvPr/>
        </p:nvSpPr>
        <p:spPr>
          <a:xfrm>
            <a:off x="822960" y="330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30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27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Chi-square: 4 variables associated with default</a:t>
            </a:r>
            <a:endParaRPr lang="en-US" sz="1500" dirty="0"/>
          </a:p>
        </p:txBody>
      </p:sp>
      <p:sp>
        <p:nvSpPr>
          <p:cNvPr id="19" name="done-check-4"/>
          <p:cNvSpPr/>
          <p:nvPr/>
        </p:nvSpPr>
        <p:spPr>
          <a:xfrm>
            <a:off x="822960" y="369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69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66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Logistic Regression: 86.19% accuracy, AUC 0.8639</a:t>
            </a:r>
            <a:endParaRPr lang="en-US" sz="1500" dirty="0"/>
          </a:p>
        </p:txBody>
      </p:sp>
      <p:sp>
        <p:nvSpPr>
          <p:cNvPr id="22" name="done-check-5"/>
          <p:cNvSpPr/>
          <p:nvPr/>
        </p:nvSpPr>
        <p:spPr>
          <a:xfrm>
            <a:off x="822960" y="408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5" name="done-check-5"/>
          <p:cNvSpPr/>
          <p:nvPr/>
        </p:nvSpPr>
        <p:spPr>
          <a:xfrm>
            <a:off x="822960" y="447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08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56" name="Text 21"/>
          <p:cNvSpPr txBox="1"/>
          <p:nvPr/>
        </p:nvSpPr>
        <p:spPr>
          <a:xfrm>
            <a:off x="822960" y="447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05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Baseline RF (0.50): 93.75% accuracy, AUC 0.9384</a:t>
            </a:r>
            <a:endParaRPr lang="en-US" sz="1500" dirty="0"/>
          </a:p>
        </p:txBody>
      </p:sp>
      <p:sp>
        <p:nvSpPr>
          <p:cNvPr id="57" name="Text 22"/>
          <p:cNvSpPr txBox="1"/>
          <p:nvPr/>
        </p:nvSpPr>
        <p:spPr>
          <a:xfrm>
            <a:off x="1280160" y="444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Tuned RF (0.40): recall 75.16%, precision 94.67%</a:t>
            </a:r>
            <a:endParaRPr lang="en-US" sz="1500" dirty="0"/>
          </a:p>
        </p:txBody>
      </p:sp>
      <p:sp>
        <p:nvSpPr>
          <p:cNvPr id="25" name="done-check-6"/>
          <p:cNvSpPr/>
          <p:nvPr/>
        </p:nvSpPr>
        <p:spPr>
          <a:xfrm>
            <a:off x="822960" y="486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86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83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Baseline RF beat Logistic Regression on all 5</a:t>
            </a:r>
            <a:endParaRPr lang="en-US" sz="1500" dirty="0"/>
          </a:p>
        </p:txBody>
      </p:sp>
      <p:sp>
        <p:nvSpPr>
          <p:cNvPr id="28" name="done-check-7"/>
          <p:cNvSpPr/>
          <p:nvPr/>
        </p:nvSpPr>
        <p:spPr>
          <a:xfrm>
            <a:off x="822960" y="525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25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522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Top predictor: loan-to-income ratio</a:t>
            </a:r>
            <a:endParaRPr lang="en-US" sz="1500" dirty="0"/>
          </a:p>
        </p:txBody>
      </p:sp>
      <p:sp>
        <p:nvSpPr>
          <p:cNvPr id="31" name="done-check-8"/>
          <p:cNvSpPr/>
          <p:nvPr/>
        </p:nvSpPr>
        <p:spPr>
          <a:xfrm>
            <a:off x="822960" y="5649696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64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5613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Imputation fitted on training data only</a:t>
            </a:r>
            <a:endParaRPr lang="en-US" sz="1500" dirty="0"/>
          </a:p>
        </p:txBody>
      </p:sp>
      <p:sp>
        <p:nvSpPr>
          <p:cNvPr id="34" name="next-panel"/>
          <p:cNvSpPr/>
          <p:nvPr/>
        </p:nvSpPr>
        <p:spPr>
          <a:xfrm>
            <a:off x="6199632" y="1371600"/>
            <a:ext cx="5440680" cy="4754880"/>
          </a:xfrm>
          <a:prstGeom prst="rect">
            <a:avLst/>
          </a:prstGeom>
          <a:ln w="19050">
            <a:solidFill>
              <a:schemeClr val="accent2"/>
            </a:solidFill>
            <a:prstDash val="dash"/>
          </a:ln>
        </p:spPr>
      </p:sp>
      <p:sp>
        <p:nvSpPr>
          <p:cNvPr id="35" name="next-header"/>
          <p:cNvSpPr/>
          <p:nvPr/>
        </p:nvSpPr>
        <p:spPr>
          <a:xfrm>
            <a:off x="6199632" y="1371600"/>
            <a:ext cx="5440680" cy="548640"/>
          </a:xfrm>
          <a:prstGeom prst="rect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73952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chemeClr val="accent2"/>
                </a:solidFill>
              </a:rPr>
              <a:t>LIMITATIONS &amp; FUTURE WORK →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20711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2103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Recall: baseline RF 73.18%; tuned (0.40) 75.16%, still missing 352 defaults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473952" y="26167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26487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Imbalance: only 21.87% are defaults; class weighting did not improve recall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473952" y="31623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31943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Small groups: grade G (64), “Other” ownership (106)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473952" y="34945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949440" y="352653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Findings are associations, not causes</a:t>
            </a:r>
            <a:endParaRPr lang="en-US" sz="1500" dirty="0"/>
          </a:p>
        </p:txBody>
      </p:sp>
      <p:sp>
        <p:nvSpPr>
          <p:cNvPr id="58" name="Text 42"/>
          <p:cNvSpPr txBox="1"/>
          <p:nvPr/>
        </p:nvSpPr>
        <p:spPr>
          <a:xfrm>
            <a:off x="6949440" y="3858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Threshold chosen on test set; a separate validation set is preferable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6473952" y="38267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473952" y="437235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6949440" y="4404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Future: improve LIME fidelity, evaluate more applicants, validate explanations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473952" y="49179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6949440" y="49499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Future: final report and documentation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473952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</a:rPr>
              <a:t>LIME implemented (case 20); explanation fit 0.14, so interpret cautiously.</a:t>
            </a:r>
            <a:endParaRPr lang="en-US" sz="14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54" name="Text 10"/>
          <p:cNvSpPr>
            <a:spLocks noGrp="1"/>
          </p:cNvSpPr>
          <p:nvPr>
            <p:ph type="body" idx="111" hasCustomPrompt="1"/>
          </p:nvPr>
        </p:nvSpPr>
        <p:spPr>
          <a:xfrm>
            <a:off x="548640" y="10515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Summary of verified results, limitations and the remaining work.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-h1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3" name="grid-h2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4" name="grid-h3"/>
          <p:cNvSpPr/>
          <p:nvPr/>
        </p:nvSpPr>
        <p:spPr>
          <a:xfrm>
            <a:off x="0" y="20574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5" name="grid-h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6" name="grid-h5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7" name="grid-h6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8" name="grid-h7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9" name="grid-h8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0" name="grid-h9"/>
          <p:cNvSpPr/>
          <p:nvPr/>
        </p:nvSpPr>
        <p:spPr>
          <a:xfrm>
            <a:off x="0" y="6172200"/>
            <a:ext cx="12188952" cy="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1" name="grid-v1"/>
          <p:cNvSpPr/>
          <p:nvPr/>
        </p:nvSpPr>
        <p:spPr>
          <a:xfrm>
            <a:off x="939820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2" name="grid-v2"/>
          <p:cNvSpPr/>
          <p:nvPr/>
        </p:nvSpPr>
        <p:spPr>
          <a:xfrm>
            <a:off x="1879641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3" name="grid-v3"/>
          <p:cNvSpPr/>
          <p:nvPr/>
        </p:nvSpPr>
        <p:spPr>
          <a:xfrm>
            <a:off x="2819461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4" name="grid-v4"/>
          <p:cNvSpPr/>
          <p:nvPr/>
        </p:nvSpPr>
        <p:spPr>
          <a:xfrm>
            <a:off x="3759281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5" name="grid-v5"/>
          <p:cNvSpPr/>
          <p:nvPr/>
        </p:nvSpPr>
        <p:spPr>
          <a:xfrm>
            <a:off x="4699102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6" name="grid-v6"/>
          <p:cNvSpPr/>
          <p:nvPr/>
        </p:nvSpPr>
        <p:spPr>
          <a:xfrm>
            <a:off x="5638922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7" name="grid-v7"/>
          <p:cNvSpPr/>
          <p:nvPr/>
        </p:nvSpPr>
        <p:spPr>
          <a:xfrm>
            <a:off x="6578742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8" name="grid-v8"/>
          <p:cNvSpPr/>
          <p:nvPr/>
        </p:nvSpPr>
        <p:spPr>
          <a:xfrm>
            <a:off x="7518563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19" name="grid-v9"/>
          <p:cNvSpPr/>
          <p:nvPr/>
        </p:nvSpPr>
        <p:spPr>
          <a:xfrm>
            <a:off x="8458383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20" name="grid-v10"/>
          <p:cNvSpPr/>
          <p:nvPr/>
        </p:nvSpPr>
        <p:spPr>
          <a:xfrm>
            <a:off x="9398203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21" name="grid-v11"/>
          <p:cNvSpPr/>
          <p:nvPr/>
        </p:nvSpPr>
        <p:spPr>
          <a:xfrm>
            <a:off x="10338024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22" name="grid-v12"/>
          <p:cNvSpPr/>
          <p:nvPr/>
        </p:nvSpPr>
        <p:spPr>
          <a:xfrm>
            <a:off x="11277844" y="0"/>
            <a:ext cx="0" cy="6858000"/>
          </a:xfrm>
          <a:prstGeom prst="line">
            <a:avLst/>
          </a:prstGeom>
          <a:noFill/>
          <a:ln w="3175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1463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R DATA SCIENCE CASE STUDY  ·  REVIEW-2</a:t>
            </a:r>
            <a:endParaRPr lang="en-US" sz="1100" dirty="0"/>
          </a:p>
        </p:txBody>
      </p:sp>
      <p:sp>
        <p:nvSpPr>
          <p:cNvPr id="24" name="Text 8"/>
          <p:cNvSpPr>
            <a:spLocks noGrp="1"/>
          </p:cNvSpPr>
          <p:nvPr>
            <p:ph type="title" idx="108" hasCustomPrompt="1"/>
          </p:nvPr>
        </p:nvSpPr>
        <p:spPr>
          <a:xfrm>
            <a:off x="822960" y="20116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Gautam Raju  |  B.Tech AI &amp; DS  |  CBIT  |  15 October 2026</a:t>
            </a:r>
            <a:endParaRPr lang="en-US" sz="1400" dirty="0"/>
          </a:p>
        </p:txBody>
      </p:sp>
      <p:sp>
        <p:nvSpPr>
          <p:cNvPr id="27" name="motif-A"/>
          <p:cNvSpPr/>
          <p:nvPr/>
        </p:nvSpPr>
        <p:spPr>
          <a:xfrm>
            <a:off x="8229600" y="5368735"/>
            <a:ext cx="365760" cy="300545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138160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A</a:t>
            </a:r>
            <a:endParaRPr lang="en-US" sz="1100" dirty="0"/>
          </a:p>
        </p:txBody>
      </p:sp>
      <p:sp>
        <p:nvSpPr>
          <p:cNvPr id="29" name="motif-B"/>
          <p:cNvSpPr/>
          <p:nvPr/>
        </p:nvSpPr>
        <p:spPr>
          <a:xfrm>
            <a:off x="8741664" y="5177424"/>
            <a:ext cx="365760" cy="49185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50224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B</a:t>
            </a:r>
            <a:endParaRPr lang="en-US" sz="1100" dirty="0"/>
          </a:p>
        </p:txBody>
      </p:sp>
      <p:sp>
        <p:nvSpPr>
          <p:cNvPr id="31" name="motif-C"/>
          <p:cNvSpPr/>
          <p:nvPr/>
        </p:nvSpPr>
        <p:spPr>
          <a:xfrm>
            <a:off x="9253728" y="5041636"/>
            <a:ext cx="365760" cy="62764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62288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C</a:t>
            </a:r>
            <a:endParaRPr lang="en-US" sz="1100" dirty="0"/>
          </a:p>
        </p:txBody>
      </p:sp>
      <p:sp>
        <p:nvSpPr>
          <p:cNvPr id="33" name="motif-D"/>
          <p:cNvSpPr/>
          <p:nvPr/>
        </p:nvSpPr>
        <p:spPr>
          <a:xfrm>
            <a:off x="9765792" y="3888943"/>
            <a:ext cx="365760" cy="178033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74352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D</a:t>
            </a:r>
            <a:endParaRPr lang="en-US" sz="1100" dirty="0"/>
          </a:p>
        </p:txBody>
      </p:sp>
      <p:sp>
        <p:nvSpPr>
          <p:cNvPr id="35" name="motif-E"/>
          <p:cNvSpPr/>
          <p:nvPr/>
        </p:nvSpPr>
        <p:spPr>
          <a:xfrm>
            <a:off x="10277856" y="3722980"/>
            <a:ext cx="365760" cy="19463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186416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E</a:t>
            </a:r>
            <a:endParaRPr lang="en-US" sz="1100" dirty="0"/>
          </a:p>
        </p:txBody>
      </p:sp>
      <p:sp>
        <p:nvSpPr>
          <p:cNvPr id="37" name="motif-F"/>
          <p:cNvSpPr/>
          <p:nvPr/>
        </p:nvSpPr>
        <p:spPr>
          <a:xfrm>
            <a:off x="10789920" y="3541928"/>
            <a:ext cx="365760" cy="21273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698480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</a:t>
            </a:r>
            <a:endParaRPr lang="en-US" sz="1100" dirty="0"/>
          </a:p>
        </p:txBody>
      </p:sp>
      <p:sp>
        <p:nvSpPr>
          <p:cNvPr id="39" name="motif-G"/>
          <p:cNvSpPr/>
          <p:nvPr/>
        </p:nvSpPr>
        <p:spPr>
          <a:xfrm>
            <a:off x="11301984" y="2700040"/>
            <a:ext cx="365760" cy="2969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210544" y="5760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G</a:t>
            </a:r>
            <a:endParaRPr lang="en-US" sz="1100" dirty="0"/>
          </a:p>
        </p:txBody>
      </p:sp>
      <p:sp>
        <p:nvSpPr>
          <p:cNvPr id="41" name="motif-axis"/>
          <p:cNvSpPr/>
          <p:nvPr/>
        </p:nvSpPr>
        <p:spPr>
          <a:xfrm>
            <a:off x="8092440" y="5669280"/>
            <a:ext cx="3712464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027664" y="2380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98.4%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092440" y="6126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bg2"/>
                </a:solidFill>
              </a:rPr>
              <a:t>DEFAULT RATE BY LOAN GRADE, A–G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 Intelligence">
  <a:themeElements>
    <a:clrScheme name="Risk Intelligence">
      <a:dk1>
        <a:srgbClr val="14151A"/>
      </a:dk1>
      <a:lt1>
        <a:srgbClr val="EDE6D8"/>
      </a:lt1>
      <a:dk2>
        <a:srgbClr val="1E2028"/>
      </a:dk2>
      <a:lt2>
        <a:srgbClr val="A29E93"/>
      </a:lt2>
      <a:accent1>
        <a:srgbClr val="D9A441"/>
      </a:accent1>
      <a:accent2>
        <a:srgbClr val="6FA0CC"/>
      </a:accent2>
      <a:accent3>
        <a:srgbClr val="3A3E49"/>
      </a:accent3>
      <a:accent4>
        <a:srgbClr val="8F6D26"/>
      </a:accent4>
      <a:accent5>
        <a:srgbClr val="40607F"/>
      </a:accent5>
      <a:accent6>
        <a:srgbClr val="C4674F"/>
      </a:accent6>
      <a:hlink>
        <a:srgbClr val="6FA0CC"/>
      </a:hlink>
      <a:folHlink>
        <a:srgbClr val="A29E93"/>
      </a:folHlink>
    </a:clrScheme>
    <a:fontScheme name="Risk Intellig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1734</Words>
  <Application>Microsoft Office PowerPoint</Application>
  <PresentationFormat>Widescreen</PresentationFormat>
  <Paragraphs>374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Risk Intelligence</vt:lpstr>
      <vt:lpstr>Loan Default Risk Analysis and Prediction Using R</vt:lpstr>
      <vt:lpstr>Agenda</vt:lpstr>
      <vt:lpstr>Problem Statement &amp; Objectives</vt:lpstr>
      <vt:lpstr>Data Preparation</vt:lpstr>
      <vt:lpstr>EDA: Default Status &amp; Loan Grade</vt:lpstr>
      <vt:lpstr>EDA: Loan Purpose &amp; Home Ownership</vt:lpstr>
      <vt:lpstr>Correlation &amp; Statistical Tests</vt:lpstr>
      <vt:lpstr>Modelling Methodology</vt:lpstr>
      <vt:lpstr>Logistic Regression: Evaluation</vt:lpstr>
      <vt:lpstr>Random Forest: Evaluation</vt:lpstr>
      <vt:lpstr>Random Forest: Tuned Threshold (0.40)</vt:lpstr>
      <vt:lpstr>Model Comparison</vt:lpstr>
      <vt:lpstr>Random Forest Feature Importance</vt:lpstr>
      <vt:lpstr>LIME Explainability </vt:lpstr>
      <vt:lpstr>Conclusions &amp; Future Work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Risk Analysis and Prediction Using R</dc:title>
  <dc:subject>PptxGenJS Presentation</dc:subject>
  <dc:creator>Gautam Raju</dc:creator>
  <cp:lastModifiedBy>Gautam Raju Saripalli</cp:lastModifiedBy>
  <cp:revision>19</cp:revision>
  <dcterms:created xsi:type="dcterms:W3CDTF">2026-10-07T16:56:21Z</dcterms:created>
  <dcterms:modified xsi:type="dcterms:W3CDTF">2026-10-15T03:57:16Z</dcterms:modified>
</cp:coreProperties>
</file>